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  <p:sldMasterId id="2147483726" r:id="rId5"/>
  </p:sldMasterIdLst>
  <p:notesMasterIdLst>
    <p:notesMasterId r:id="rId35"/>
  </p:notesMasterIdLst>
  <p:handoutMasterIdLst>
    <p:handoutMasterId r:id="rId36"/>
  </p:handoutMasterIdLst>
  <p:sldIdLst>
    <p:sldId id="256" r:id="rId6"/>
    <p:sldId id="264" r:id="rId7"/>
    <p:sldId id="455" r:id="rId8"/>
    <p:sldId id="482" r:id="rId9"/>
    <p:sldId id="483" r:id="rId10"/>
    <p:sldId id="502" r:id="rId11"/>
    <p:sldId id="503" r:id="rId12"/>
    <p:sldId id="484" r:id="rId13"/>
    <p:sldId id="485" r:id="rId14"/>
    <p:sldId id="486" r:id="rId15"/>
    <p:sldId id="487" r:id="rId16"/>
    <p:sldId id="506" r:id="rId17"/>
    <p:sldId id="505" r:id="rId18"/>
    <p:sldId id="488" r:id="rId19"/>
    <p:sldId id="489" r:id="rId20"/>
    <p:sldId id="490" r:id="rId21"/>
    <p:sldId id="491" r:id="rId22"/>
    <p:sldId id="492" r:id="rId23"/>
    <p:sldId id="493" r:id="rId24"/>
    <p:sldId id="494" r:id="rId25"/>
    <p:sldId id="495" r:id="rId26"/>
    <p:sldId id="496" r:id="rId27"/>
    <p:sldId id="497" r:id="rId28"/>
    <p:sldId id="498" r:id="rId29"/>
    <p:sldId id="499" r:id="rId30"/>
    <p:sldId id="500" r:id="rId31"/>
    <p:sldId id="501" r:id="rId32"/>
    <p:sldId id="504" r:id="rId33"/>
    <p:sldId id="481" r:id="rId34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E7D64-6963-4D62-895D-7BF0D93F7A92}">
          <p14:sldIdLst>
            <p14:sldId id="256"/>
            <p14:sldId id="264"/>
            <p14:sldId id="455"/>
            <p14:sldId id="482"/>
            <p14:sldId id="483"/>
            <p14:sldId id="502"/>
            <p14:sldId id="503"/>
            <p14:sldId id="484"/>
            <p14:sldId id="485"/>
            <p14:sldId id="486"/>
            <p14:sldId id="487"/>
            <p14:sldId id="506"/>
            <p14:sldId id="505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4"/>
          </p14:sldIdLst>
        </p14:section>
        <p14:section name="Untitled Section" id="{7B334EF5-C9D6-4A65-A255-DBC416AFB616}">
          <p14:sldIdLst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21T04:13:22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87940" autoAdjust="0"/>
  </p:normalViewPr>
  <p:slideViewPr>
    <p:cSldViewPr>
      <p:cViewPr varScale="1">
        <p:scale>
          <a:sx n="102" d="100"/>
          <a:sy n="102" d="100"/>
        </p:scale>
        <p:origin x="1920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Quoc Vung 202417085" userId="S::vung.lq2417085@sis.hust.edu.vn::c7405b08-517a-40ee-8c7e-41684d6f7a71" providerId="AD" clId="Web-{00000000-0000-0000-0000-000000000000}"/>
    <pc:docChg chg="sldOrd">
      <pc:chgData name="Le Quoc Vung 202417085" userId="S::vung.lq2417085@sis.hust.edu.vn::c7405b08-517a-40ee-8c7e-41684d6f7a71" providerId="AD" clId="Web-{00000000-0000-0000-0000-000000000000}" dt="2026-09-21T04:13:22.611" v="0"/>
      <pc:docMkLst>
        <pc:docMk/>
      </pc:docMkLst>
      <pc:sldChg chg="ord">
        <pc:chgData name="Le Quoc Vung 202417085" userId="S::vung.lq2417085@sis.hust.edu.vn::c7405b08-517a-40ee-8c7e-41684d6f7a71" providerId="AD" clId="Web-{00000000-0000-0000-0000-000000000000}" dt="2026-09-21T04:13:22.611" v="0"/>
        <pc:sldMkLst>
          <pc:docMk/>
          <pc:sldMk cId="2358595582" sldId="4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9/20/2026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man7.org/linux/man-pages/man7/signal.7.html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Multi-Process TCP Server </a:t>
            </a:r>
            <a:endParaRPr lang="en-US" altLang="en-US" sz="49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School of Information and Communication Technology,</a:t>
            </a:r>
          </a:p>
          <a:p>
            <a:r>
              <a:rPr lang="en-US" altLang="en-US" sz="2000" dirty="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for Programmers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Forking Server</a:t>
            </a:r>
          </a:p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Signaling</a:t>
            </a:r>
          </a:p>
          <a:p>
            <a:pPr eaLnBrk="1" hangingPunct="1"/>
            <a:r>
              <a:rPr lang="en-US" altLang="en-US">
                <a:latin typeface="Verdana" panose="020B0604030504040204" pitchFamily="34" charset="0"/>
                <a:cs typeface="Arial" panose="020B0604020202020204" pitchFamily="34" charset="0"/>
              </a:rPr>
              <a:t>Signal Handling</a:t>
            </a:r>
            <a:endParaRPr lang="en-US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/>
            <a:endParaRPr lang="vi-VN" alt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B6F4-30EF-9934-595C-2E0DDEE5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Single-client Server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325AF-59AC-22B8-8350-14CDE8F9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989A9-38F6-00E7-7FE8-72D8BBE4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9" y="679465"/>
            <a:ext cx="6072142" cy="54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3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59BD-FC9A-29B6-54AC-B25456D8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6B286-CD28-E3A3-5562-7F64B34E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fork</a:t>
            </a:r>
            <a:r>
              <a:rPr lang="en-US" altLang="en-US" dirty="0"/>
              <a:t> is an operation where a process creates a copy of itself</a:t>
            </a:r>
          </a:p>
          <a:p>
            <a:pPr eaLnBrk="1" hangingPunct="1"/>
            <a:r>
              <a:rPr lang="en-US" altLang="en-US" dirty="0"/>
              <a:t>Happen in multitask operating system when a process launch another process </a:t>
            </a:r>
            <a:r>
              <a:rPr lang="en-US" altLang="en-US" dirty="0">
                <a:sym typeface="Wingdings" panose="05000000000000000000" pitchFamily="2" charset="2"/>
              </a:rPr>
              <a:t> child process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The parent process makes a copy of its memory and gives to the child process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Fork system call is first introduced in UNIX.</a:t>
            </a:r>
          </a:p>
          <a:p>
            <a:pPr eaLnBrk="1" hangingPunct="1"/>
            <a:r>
              <a:rPr lang="en-US" altLang="en-US" dirty="0">
                <a:sym typeface="Wingdings" panose="05000000000000000000" pitchFamily="2" charset="2"/>
              </a:rPr>
              <a:t>First process in Linux is “</a:t>
            </a:r>
            <a:r>
              <a:rPr lang="en-US" altLang="ja-JP" dirty="0" err="1">
                <a:sym typeface="Wingdings" panose="05000000000000000000" pitchFamily="2" charset="2"/>
              </a:rPr>
              <a:t>init</a:t>
            </a:r>
            <a:r>
              <a:rPr lang="en-US" altLang="en-US" dirty="0">
                <a:sym typeface="Wingdings" panose="05000000000000000000" pitchFamily="2" charset="2"/>
              </a:rPr>
              <a:t>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5681B-CEAA-3876-19A4-FE05D36C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31803B9-0007-1B4B-3351-C26FCE8F5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634" y="5105400"/>
            <a:ext cx="5486400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>
                <a:latin typeface="Verdana" panose="020B0604030504040204" pitchFamily="34" charset="0"/>
              </a:rPr>
              <a:t>#include &lt;</a:t>
            </a:r>
            <a:r>
              <a:rPr lang="en-AU" altLang="en-US" sz="1800" dirty="0" err="1">
                <a:latin typeface="Verdana" panose="020B0604030504040204" pitchFamily="34" charset="0"/>
              </a:rPr>
              <a:t>unistd.h</a:t>
            </a:r>
            <a:r>
              <a:rPr lang="en-AU" altLang="en-US" sz="1800" dirty="0">
                <a:latin typeface="Verdana" panose="020B0604030504040204" pitchFamily="34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AU" altLang="en-US" sz="18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 err="1">
                <a:latin typeface="Verdana" panose="020B0604030504040204" pitchFamily="34" charset="0"/>
              </a:rPr>
              <a:t>pid_t</a:t>
            </a:r>
            <a:r>
              <a:rPr lang="en-AU" altLang="en-US" sz="1800" dirty="0">
                <a:latin typeface="Verdana" panose="020B0604030504040204" pitchFamily="34" charset="0"/>
              </a:rPr>
              <a:t> fork(void);</a:t>
            </a:r>
            <a:endParaRPr lang="vi-VN" altLang="en-US" sz="18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322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DB1E0-8590-B6D5-7C0B-A7F22351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FD4D1-6D15-42A4-C41D-72B15918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58480-128F-E462-E9ED-F1F9B9CE2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3223539" cy="24995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30DC20-3E56-75C1-3275-CF0BC7CB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66377"/>
            <a:ext cx="2057578" cy="1996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40B6D8-DBA5-C425-00D0-045747B83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939" y="1066800"/>
            <a:ext cx="4587638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6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596B-5D87-45AC-478D-27142CD5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E02F8-37DB-DCB8-5FE7-CD719CB6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919F9-0133-6098-BB89-D9FD8AA7A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47" y="1066800"/>
            <a:ext cx="5829653" cy="477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8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C88C-001F-EA76-EFDD-EFDF70E6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D9CFF-19BB-1E8B-4329-64EA57AEB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pid_t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int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= socket( ...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/* fill in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sockaddr_in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{} with server's well-known port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bind(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...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listen(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5);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for ( ; ; ) {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accept 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, ... ); /* probably blocks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AU" altLang="en-US" sz="17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if((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fork()) == 0) {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); /* child closes listening socket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doit(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); /* process the request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); /* done with this client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exit(0); /* child terminates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); /* parent closes connected socket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91C54-6FD8-4DE8-B7C8-065E856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49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36F6-A462-634C-097E-EF8B12FF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Process 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1BEDC-00A3-A1F6-BD61-48C5BF8FF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We use forking server, when a child process ends, it sends the </a:t>
            </a:r>
            <a:r>
              <a:rPr lang="en-AU" altLang="en-US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SIGCHLD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signal to the parent</a:t>
            </a:r>
          </a:p>
          <a:p>
            <a:pPr lvl="1" eaLnBrk="1" hangingPunct="1"/>
            <a:r>
              <a:rPr lang="en-AU" altLang="en-US" dirty="0"/>
              <a:t>Information about the child process is still maintained in “process table” in order to allow its parent to read the child exit status afterward.</a:t>
            </a:r>
          </a:p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If </a:t>
            </a:r>
            <a:r>
              <a:rPr lang="en-AU" altLang="en-US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SIGCHLD </a:t>
            </a:r>
            <a:r>
              <a:rPr lang="en-AU" altLang="en-US" dirty="0">
                <a:solidFill>
                  <a:srgbClr val="292934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is ignored </a:t>
            </a:r>
          </a:p>
          <a:p>
            <a:pPr lvl="1" eaLnBrk="1" hangingPunct="1"/>
            <a:r>
              <a:rPr lang="en-AU" altLang="en-US" dirty="0"/>
              <a:t>C</a:t>
            </a:r>
            <a:r>
              <a:rPr lang="en-US" altLang="en-US" dirty="0" err="1"/>
              <a:t>hild</a:t>
            </a:r>
            <a:r>
              <a:rPr lang="en-US" altLang="en-US" dirty="0"/>
              <a:t> process will not running b</a:t>
            </a:r>
            <a:r>
              <a:rPr lang="en-AU" altLang="en-US" dirty="0" err="1">
                <a:latin typeface="Verdana" panose="020B0604030504040204" pitchFamily="34" charset="0"/>
                <a:cs typeface="Arial" panose="020B0604020202020204" pitchFamily="34" charset="0"/>
              </a:rPr>
              <a:t>ut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/>
              <a:t>still consumes system resources (in process table)</a:t>
            </a:r>
          </a:p>
          <a:p>
            <a:pPr lvl="1"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it is in 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zombie state</a:t>
            </a:r>
          </a:p>
          <a:p>
            <a:pPr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We need to handle </a:t>
            </a:r>
            <a:r>
              <a:rPr lang="en-AU" altLang="en-US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SIGCHLD </a:t>
            </a:r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signal </a:t>
            </a:r>
          </a:p>
          <a:p>
            <a:pPr lvl="1" eaLnBrk="1" hangingPunct="1"/>
            <a:r>
              <a:rPr lang="en-AU" altLang="en-US" dirty="0"/>
              <a:t>Make the child process to wait until the parent read its exit status </a:t>
            </a:r>
          </a:p>
          <a:p>
            <a:pPr lvl="1" eaLnBrk="1" hangingPunct="1"/>
            <a:r>
              <a:rPr lang="en-AU" altLang="en-US" dirty="0"/>
              <a:t>once the exit status is read via “wait” system call, the zombie's entry is removed from the process table</a:t>
            </a:r>
          </a:p>
          <a:p>
            <a:pPr lvl="1" eaLnBrk="1" hangingPunct="1"/>
            <a:endParaRPr lang="en-AU" altLang="en-US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AU" altLang="en-US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D7EAA-8B28-3BFC-0401-ECBF2F67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34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A46F-B094-7FF8-1020-5508BBD1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14CA4-3173-87BE-73F2-A0F5E6838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A signal is a notification to a process that an event has occurred. </a:t>
            </a:r>
          </a:p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Signals are sometimes called software </a:t>
            </a:r>
            <a:r>
              <a:rPr lang="en-AU" altLang="en-US" sz="2600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interrupts</a:t>
            </a:r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. </a:t>
            </a:r>
          </a:p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Signals usually occur asynchronously. </a:t>
            </a:r>
          </a:p>
          <a:p>
            <a:pPr lvl="1" eaLnBrk="1" hangingPunct="1"/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A process doesn't know ahead when a signal will occur.</a:t>
            </a:r>
          </a:p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Signals can be sent</a:t>
            </a:r>
          </a:p>
          <a:p>
            <a:pPr lvl="1" eaLnBrk="1" hangingPunct="1"/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By one process to another process (or to itself)</a:t>
            </a:r>
          </a:p>
          <a:p>
            <a:pPr lvl="1" eaLnBrk="1" hangingPunct="1"/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By the kernel to a process</a:t>
            </a:r>
          </a:p>
          <a:p>
            <a:pPr eaLnBrk="1" hangingPunct="1"/>
            <a:endParaRPr lang="en-AU" altLang="en-US" sz="26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5ECA5-D155-D800-5530-A3F8683B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462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B283-C74A-6B13-1B08-59766D96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1A604-C7C5-9969-C111-997AA2C0F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Typing certain key combinations at the controlling terminal of a running process causes the system to send it certain signals:</a:t>
            </a:r>
          </a:p>
          <a:p>
            <a:pPr lvl="1"/>
            <a:r>
              <a:rPr lang="en-US" altLang="en-US" dirty="0"/>
              <a:t>Ctrl-C sends an INT signal ("interrupt", SIGINT)</a:t>
            </a:r>
          </a:p>
          <a:p>
            <a:pPr lvl="1"/>
            <a:r>
              <a:rPr lang="en-US" altLang="en-US" dirty="0"/>
              <a:t>Ctrl-Z sends a TSTP signal ("terminal stop", SIGTSTP)</a:t>
            </a:r>
          </a:p>
          <a:p>
            <a:pPr lvl="1"/>
            <a:r>
              <a:rPr lang="en-US" altLang="en-US" dirty="0"/>
              <a:t>Ctrl-\ sends a QUIT signal (SIGQUIT)</a:t>
            </a:r>
          </a:p>
          <a:p>
            <a:pPr lvl="2"/>
            <a:r>
              <a:rPr lang="en-US" altLang="en-US" dirty="0"/>
              <a:t>by default, this causes the process to terminate and dump core.</a:t>
            </a:r>
          </a:p>
          <a:p>
            <a:r>
              <a:rPr lang="en-US" altLang="en-US" dirty="0"/>
              <a:t>SIGHUP is sent to a process when its controlling terminal is closed (a </a:t>
            </a:r>
            <a:r>
              <a:rPr lang="en-US" altLang="en-US" b="1" dirty="0" err="1"/>
              <a:t>hangup</a:t>
            </a:r>
            <a:r>
              <a:rPr lang="en-US" altLang="en-US" dirty="0"/>
              <a:t>). </a:t>
            </a:r>
          </a:p>
          <a:p>
            <a:r>
              <a:rPr lang="en-US" altLang="en-US" dirty="0"/>
              <a:t>SIGTERM is sent to a process to request its </a:t>
            </a:r>
            <a:r>
              <a:rPr lang="en-US" altLang="en-US" b="1" dirty="0"/>
              <a:t>termination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Unlike the SIGKILL signal, it can be caught and interpreted or ignored by the process. </a:t>
            </a:r>
          </a:p>
          <a:p>
            <a:endParaRPr lang="en-US" altLang="en-US" dirty="0"/>
          </a:p>
          <a:p>
            <a:endParaRPr lang="en-US" altLang="en-US" dirty="0">
              <a:solidFill>
                <a:srgbClr val="292934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29DC0-7B7B-F46D-38C4-25D13C80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838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4812-5E54-CDCC-DA3E-5CC34E93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29079-FB0F-2AD9-D975-C89D4B10E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signal(7) - Linux manual page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406D8-7EFE-DEAE-496A-D9C9063A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D5F3D3-B6A8-7E62-BFEC-104006529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987" y="1752600"/>
            <a:ext cx="5714414" cy="454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86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2F76F-AE2D-8C05-95F3-4B354E05B883}"/>
              </a:ext>
            </a:extLst>
          </p:cNvPr>
          <p:cNvSpPr/>
          <p:nvPr/>
        </p:nvSpPr>
        <p:spPr>
          <a:xfrm>
            <a:off x="2895600" y="762000"/>
            <a:ext cx="37338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81594-AE68-6E6E-DFD7-11772AACC9DB}"/>
              </a:ext>
            </a:extLst>
          </p:cNvPr>
          <p:cNvSpPr txBox="1"/>
          <p:nvPr/>
        </p:nvSpPr>
        <p:spPr>
          <a:xfrm>
            <a:off x="3276600" y="21336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8BCF9-9CFF-3948-135C-4245A8778C63}"/>
              </a:ext>
            </a:extLst>
          </p:cNvPr>
          <p:cNvSpPr txBox="1"/>
          <p:nvPr/>
        </p:nvSpPr>
        <p:spPr>
          <a:xfrm>
            <a:off x="4038600" y="2160037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6F8FF-D048-F25F-7D64-45D1E68591B2}"/>
              </a:ext>
            </a:extLst>
          </p:cNvPr>
          <p:cNvSpPr txBox="1"/>
          <p:nvPr/>
        </p:nvSpPr>
        <p:spPr>
          <a:xfrm>
            <a:off x="4813041" y="21336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85E4C-73BE-FEDC-C9ED-9CFA493428D9}"/>
              </a:ext>
            </a:extLst>
          </p:cNvPr>
          <p:cNvSpPr/>
          <p:nvPr/>
        </p:nvSpPr>
        <p:spPr>
          <a:xfrm>
            <a:off x="1981200" y="3733800"/>
            <a:ext cx="1981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D5F35D-40B8-7177-9C74-B238995AFD1F}"/>
              </a:ext>
            </a:extLst>
          </p:cNvPr>
          <p:cNvSpPr txBox="1"/>
          <p:nvPr/>
        </p:nvSpPr>
        <p:spPr>
          <a:xfrm>
            <a:off x="2057400" y="457200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67DAEB-342E-2B4E-352D-A87007FAA504}"/>
              </a:ext>
            </a:extLst>
          </p:cNvPr>
          <p:cNvSpPr/>
          <p:nvPr/>
        </p:nvSpPr>
        <p:spPr>
          <a:xfrm>
            <a:off x="4191000" y="3730690"/>
            <a:ext cx="1981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60BFAF-5768-4079-8B87-7DCF399BDB67}"/>
              </a:ext>
            </a:extLst>
          </p:cNvPr>
          <p:cNvSpPr txBox="1"/>
          <p:nvPr/>
        </p:nvSpPr>
        <p:spPr>
          <a:xfrm>
            <a:off x="4953000" y="456889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199EE7-D371-1E44-06CE-E791D0E1768A}"/>
              </a:ext>
            </a:extLst>
          </p:cNvPr>
          <p:cNvSpPr/>
          <p:nvPr/>
        </p:nvSpPr>
        <p:spPr>
          <a:xfrm>
            <a:off x="6618514" y="3730690"/>
            <a:ext cx="1981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0E5F6-C31B-CF13-12C2-3006145BBA9E}"/>
              </a:ext>
            </a:extLst>
          </p:cNvPr>
          <p:cNvSpPr txBox="1"/>
          <p:nvPr/>
        </p:nvSpPr>
        <p:spPr>
          <a:xfrm>
            <a:off x="8066314" y="4555672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765262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31B8-CD12-F39C-080F-25E22979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Handle a signal using </a:t>
            </a:r>
            <a:r>
              <a:rPr lang="en-AU" b="1" dirty="0" err="1">
                <a:latin typeface="Verdana" charset="0"/>
                <a:ea typeface="+mj-ea"/>
                <a:cs typeface="Arial" charset="0"/>
              </a:rPr>
              <a:t>sigaction</a:t>
            </a:r>
            <a:r>
              <a:rPr lang="en-AU" b="1" dirty="0">
                <a:latin typeface="Verdana" charset="0"/>
                <a:ea typeface="+mj-ea"/>
                <a:cs typeface="Arial" charset="0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B40D-2A1A-2282-5A60-E59DFEC68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•"/>
              <a:defRPr/>
            </a:pP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We set/change the disposition of a signal by calling the </a:t>
            </a:r>
            <a:r>
              <a:rPr lang="en-AU" sz="2600" dirty="0" err="1">
                <a:latin typeface="Verdana" charset="0"/>
                <a:ea typeface="ＭＳ Ｐゴシック" charset="0"/>
                <a:cs typeface="Arial" charset="0"/>
              </a:rPr>
              <a:t>sigaction</a:t>
            </a: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 function </a:t>
            </a:r>
          </a:p>
          <a:p>
            <a:pPr lvl="1">
              <a:buFont typeface="Arial" charset="0"/>
              <a:buChar char="•"/>
              <a:defRPr/>
            </a:pPr>
            <a:r>
              <a:rPr lang="en-US" sz="1800" b="1" dirty="0">
                <a:ea typeface="ＭＳ Ｐゴシック" charset="0"/>
              </a:rPr>
              <a:t>int </a:t>
            </a:r>
            <a:r>
              <a:rPr lang="en-US" sz="1800" b="1" dirty="0" err="1">
                <a:ea typeface="ＭＳ Ｐゴシック" charset="0"/>
              </a:rPr>
              <a:t>sigaction</a:t>
            </a:r>
            <a:r>
              <a:rPr lang="en-US" sz="1800" b="1" dirty="0">
                <a:ea typeface="ＭＳ Ｐゴシック" charset="0"/>
              </a:rPr>
              <a:t>(int </a:t>
            </a:r>
            <a:r>
              <a:rPr lang="en-US" sz="1800" i="1" dirty="0">
                <a:ea typeface="ＭＳ Ｐゴシック" charset="0"/>
              </a:rPr>
              <a:t>signum</a:t>
            </a:r>
            <a:r>
              <a:rPr lang="en-US" sz="1800" b="1" dirty="0">
                <a:ea typeface="ＭＳ Ｐゴシック" charset="0"/>
              </a:rPr>
              <a:t>, const struct </a:t>
            </a:r>
            <a:r>
              <a:rPr lang="en-US" sz="1800" b="1" dirty="0" err="1">
                <a:solidFill>
                  <a:srgbClr val="FF0000"/>
                </a:solidFill>
                <a:ea typeface="ＭＳ Ｐゴシック" charset="0"/>
              </a:rPr>
              <a:t>sigaction</a:t>
            </a:r>
            <a:r>
              <a:rPr lang="en-US" sz="1800" b="1" dirty="0">
                <a:solidFill>
                  <a:srgbClr val="FF0000"/>
                </a:solidFill>
                <a:ea typeface="ＭＳ Ｐゴシック" charset="0"/>
              </a:rPr>
              <a:t> </a:t>
            </a:r>
            <a:r>
              <a:rPr lang="en-US" sz="1800" b="1" dirty="0">
                <a:ea typeface="ＭＳ Ｐゴシック" charset="0"/>
              </a:rPr>
              <a:t>*</a:t>
            </a:r>
            <a:r>
              <a:rPr lang="en-US" sz="1800" i="1" dirty="0">
                <a:ea typeface="ＭＳ Ｐゴシック" charset="0"/>
              </a:rPr>
              <a:t>act</a:t>
            </a:r>
            <a:r>
              <a:rPr lang="en-US" sz="1800" b="1" dirty="0">
                <a:ea typeface="ＭＳ Ｐゴシック" charset="0"/>
              </a:rPr>
              <a:t>,</a:t>
            </a:r>
            <a:r>
              <a:rPr lang="en-US" sz="1800" dirty="0">
                <a:ea typeface="ＭＳ Ｐゴシック" charset="0"/>
              </a:rPr>
              <a:t> </a:t>
            </a:r>
            <a:r>
              <a:rPr lang="en-US" sz="1800" b="1" dirty="0">
                <a:ea typeface="ＭＳ Ｐゴシック" charset="0"/>
              </a:rPr>
              <a:t>struct </a:t>
            </a:r>
            <a:r>
              <a:rPr lang="en-US" sz="1800" b="1" dirty="0" err="1">
                <a:ea typeface="ＭＳ Ｐゴシック" charset="0"/>
              </a:rPr>
              <a:t>sigaction</a:t>
            </a:r>
            <a:r>
              <a:rPr lang="en-US" sz="1800" b="1" dirty="0">
                <a:ea typeface="ＭＳ Ｐゴシック" charset="0"/>
              </a:rPr>
              <a:t> *</a:t>
            </a:r>
            <a:r>
              <a:rPr lang="en-US" sz="1800" i="1" dirty="0" err="1">
                <a:ea typeface="ＭＳ Ｐゴシック" charset="0"/>
              </a:rPr>
              <a:t>oldact</a:t>
            </a:r>
            <a:r>
              <a:rPr lang="en-US" sz="1800" b="1" dirty="0">
                <a:ea typeface="ＭＳ Ｐゴシック" charset="0"/>
              </a:rPr>
              <a:t>);</a:t>
            </a:r>
            <a:endParaRPr lang="en-AU" sz="2200" dirty="0">
              <a:latin typeface="Verdana" charset="0"/>
              <a:ea typeface="ＭＳ Ｐゴシック" charset="0"/>
              <a:cs typeface="Arial" charset="0"/>
            </a:endParaRP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struct </a:t>
            </a:r>
            <a:r>
              <a:rPr lang="en-US" dirty="0" err="1">
                <a:ea typeface="ＭＳ Ｐゴシック" charset="0"/>
              </a:rPr>
              <a:t>sigaction</a:t>
            </a:r>
            <a:r>
              <a:rPr lang="en-US" dirty="0">
                <a:ea typeface="ＭＳ Ｐゴシック" charset="0"/>
              </a:rPr>
              <a:t> {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    void     (*sa_handler)(int);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    void     (*sa_sigaction)(int, siginfo_t *, void *);</a:t>
            </a:r>
          </a:p>
          <a:p>
            <a:pPr marL="0" indent="0">
              <a:buFont typeface="Arial" charset="0"/>
              <a:buNone/>
              <a:defRPr/>
            </a:pPr>
            <a:r>
              <a:rPr lang="da-DK" sz="2000" dirty="0">
                <a:ea typeface="ＭＳ Ｐゴシック" charset="0"/>
              </a:rPr>
              <a:t>               sigset_t   sa_mask;</a:t>
            </a:r>
          </a:p>
          <a:p>
            <a:pPr marL="0" indent="0">
              <a:buFont typeface="Arial" charset="0"/>
              <a:buNone/>
              <a:defRPr/>
            </a:pPr>
            <a:r>
              <a:rPr lang="is-IS" sz="2000" dirty="0">
                <a:ea typeface="ＭＳ Ｐゴシック" charset="0"/>
              </a:rPr>
              <a:t>               int        sa_flags;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    void     (*sa_restorer)(void);</a:t>
            </a:r>
          </a:p>
          <a:p>
            <a:pPr marL="0" indent="0">
              <a:buFont typeface="Arial" charset="0"/>
              <a:buNone/>
              <a:defRPr/>
            </a:pPr>
            <a:r>
              <a:rPr lang="fi-FI" sz="2000" dirty="0">
                <a:ea typeface="ＭＳ Ｐゴシック" charset="0"/>
              </a:rPr>
              <a:t>           };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•"/>
              <a:defRPr/>
            </a:pPr>
            <a:endParaRPr lang="en-AU" sz="2200" dirty="0">
              <a:solidFill>
                <a:srgbClr val="0000FF"/>
              </a:solidFill>
              <a:latin typeface="Verdana" charset="0"/>
              <a:ea typeface="ＭＳ Ｐゴシック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1CC56-AE5C-8F2B-CEE4-567D20B2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595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DAF8-7B7D-37D8-56D1-29E1148F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Handle a signal using </a:t>
            </a:r>
            <a:r>
              <a:rPr lang="en-AU" b="1" dirty="0" err="1">
                <a:latin typeface="Verdana" charset="0"/>
                <a:ea typeface="+mj-ea"/>
                <a:cs typeface="Arial" charset="0"/>
              </a:rPr>
              <a:t>sigaction</a:t>
            </a:r>
            <a:r>
              <a:rPr lang="en-AU" b="1" dirty="0">
                <a:latin typeface="Verdana" charset="0"/>
                <a:ea typeface="+mj-ea"/>
                <a:cs typeface="Arial" charset="0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AD2E4-F155-5A07-74A1-A857C989C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</a:rPr>
              <a:t>Three choices for the disposition: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We can provide in </a:t>
            </a:r>
            <a:r>
              <a:rPr lang="en-US" altLang="en-US" sz="2400" b="1" dirty="0" err="1">
                <a:solidFill>
                  <a:srgbClr val="FF0000"/>
                </a:solidFill>
              </a:rPr>
              <a:t>sigaction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a function that is called whenever a specific signal occurs (</a:t>
            </a:r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sa_handler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2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Prototype: void handler (int </a:t>
            </a:r>
            <a:r>
              <a:rPr lang="en-AU" altLang="en-US" sz="2200" i="1" dirty="0" err="1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signo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);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We can ignore a signal by setting </a:t>
            </a:r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sa_handler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 to 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SIG_IGN</a:t>
            </a:r>
            <a:r>
              <a:rPr lang="en-AU" altLang="en-US" sz="2200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We can set the default disposition for a signal by setting </a:t>
            </a:r>
            <a:r>
              <a:rPr lang="en-AU" altLang="en-US" sz="2200" dirty="0" err="1">
                <a:latin typeface="Verdana" panose="020B0604030504040204" pitchFamily="34" charset="0"/>
                <a:cs typeface="Arial" panose="020B0604020202020204" pitchFamily="34" charset="0"/>
              </a:rPr>
              <a:t>sa_handler</a:t>
            </a:r>
            <a:r>
              <a:rPr lang="en-AU" altLang="en-US" sz="2200" dirty="0">
                <a:latin typeface="Verdana" panose="020B0604030504040204" pitchFamily="34" charset="0"/>
                <a:cs typeface="Arial" panose="020B0604020202020204" pitchFamily="34" charset="0"/>
              </a:rPr>
              <a:t> to </a:t>
            </a:r>
            <a:r>
              <a:rPr lang="en-AU" altLang="en-US" sz="2200" i="1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SIG_DFL</a:t>
            </a:r>
            <a:r>
              <a:rPr lang="en-AU" altLang="en-US" sz="2200" dirty="0">
                <a:solidFill>
                  <a:srgbClr val="0000FF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. 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692E4-E04C-E6D9-169E-2ABBB250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078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5ECA-5D7D-A4EE-9D65-AE4194BA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Example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2D798-9653-38E8-C4D8-ED9C350A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F163C3A-B683-E5F3-492B-F00799968E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31" r="-11031"/>
          <a:stretch>
            <a:fillRect/>
          </a:stretch>
        </p:blipFill>
        <p:spPr>
          <a:xfrm>
            <a:off x="228600" y="914400"/>
            <a:ext cx="8743950" cy="5181600"/>
          </a:xfrm>
        </p:spPr>
      </p:pic>
    </p:spTree>
    <p:extLst>
      <p:ext uri="{BB962C8B-B14F-4D97-AF65-F5344CB8AC3E}">
        <p14:creationId xmlns:p14="http://schemas.microsoft.com/office/powerpoint/2010/main" val="4244199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397C3-740F-4F54-9893-583318DA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ＭＳ Ｐゴシック" charset="0"/>
              </a:rPr>
              <a:t>Handle a signal using </a:t>
            </a:r>
            <a:r>
              <a:rPr lang="en-US" b="1" dirty="0">
                <a:ea typeface="ＭＳ Ｐゴシック" charset="0"/>
              </a:rPr>
              <a:t>signal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2C764-1261-F86C-4C9F-8AE8D22F6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alternative to use </a:t>
            </a:r>
            <a:r>
              <a:rPr lang="en-US" altLang="en-US" dirty="0" err="1"/>
              <a:t>sigaction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&lt;</a:t>
            </a:r>
            <a:r>
              <a:rPr lang="en-US" altLang="en-US" dirty="0" err="1"/>
              <a:t>signal.h</a:t>
            </a:r>
            <a:r>
              <a:rPr lang="en-US" altLang="en-US" dirty="0"/>
              <a:t>&gt;</a:t>
            </a:r>
          </a:p>
          <a:p>
            <a:r>
              <a:rPr lang="en-US" altLang="en-US" dirty="0"/>
              <a:t>void (*signal(int sig, void (*</a:t>
            </a:r>
            <a:r>
              <a:rPr lang="en-US" altLang="en-US" dirty="0" err="1"/>
              <a:t>func</a:t>
            </a:r>
            <a:r>
              <a:rPr lang="en-US" altLang="en-US" dirty="0"/>
              <a:t>)(int)))(int)</a:t>
            </a:r>
          </a:p>
          <a:p>
            <a:pPr lvl="1"/>
            <a:r>
              <a:rPr lang="en-US" altLang="en-US" dirty="0"/>
              <a:t>Sig: signal to be handled </a:t>
            </a:r>
          </a:p>
          <a:p>
            <a:pPr lvl="1"/>
            <a:r>
              <a:rPr lang="en-US" altLang="en-US" b="1" dirty="0" err="1"/>
              <a:t>func</a:t>
            </a:r>
            <a:r>
              <a:rPr lang="en-US" altLang="en-US" b="1" dirty="0"/>
              <a:t>:</a:t>
            </a:r>
            <a:r>
              <a:rPr lang="en-US" altLang="en-US" dirty="0"/>
              <a:t> a pointer to a function that handle the signal</a:t>
            </a:r>
          </a:p>
          <a:p>
            <a:pPr lvl="1"/>
            <a:r>
              <a:rPr lang="en-US" altLang="en-US" dirty="0"/>
              <a:t>Meaning: registration of a function for handling a signal.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73C56-FE1A-1FB4-5015-C0827780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4955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E529-808B-35D4-5C4B-29DBFEB8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9E3FE-3086-EC89-7122-5E374483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BBF332B-157E-BE9B-AF54-FD4A5A574F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583" r="-9583"/>
          <a:stretch>
            <a:fillRect/>
          </a:stretch>
        </p:blipFill>
        <p:spPr>
          <a:xfrm>
            <a:off x="457200" y="990600"/>
            <a:ext cx="8229600" cy="4876800"/>
          </a:xfrm>
        </p:spPr>
      </p:pic>
    </p:spTree>
    <p:extLst>
      <p:ext uri="{BB962C8B-B14F-4D97-AF65-F5344CB8AC3E}">
        <p14:creationId xmlns:p14="http://schemas.microsoft.com/office/powerpoint/2010/main" val="1189206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E5D6-1B9D-13CF-AA36-C3C90775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Handling SIGCHLD Signals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90BD5-51EC-C23D-4902-4B5D7537B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The purpose of the zombie state is to maintain information about the child in “process table” for the parent to fetch at some later time. 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This information includes the process ID of the child, its termination status, and information on the resource utilization of the child (CPU time, memory, etc.). 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They take up space in the kernel and eventually we can run out of processes </a:t>
            </a:r>
          </a:p>
          <a:p>
            <a:pPr eaLnBrk="1" hangingPunct="1">
              <a:buFont typeface="Wingdings" panose="05000000000000000000" pitchFamily="2" charset="2"/>
              <a:buChar char="à"/>
            </a:pPr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Whenever we </a:t>
            </a:r>
            <a:r>
              <a:rPr lang="en-AU" altLang="en-US" sz="20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fork</a:t>
            </a:r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children, parent must </a:t>
            </a:r>
            <a:r>
              <a:rPr lang="en-AU" altLang="en-US" sz="20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</a:t>
            </a:r>
            <a:r>
              <a:rPr lang="en-AU" altLang="en-US" sz="2000" dirty="0">
                <a:solidFill>
                  <a:srgbClr val="292934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(read exit status)</a:t>
            </a:r>
            <a:r>
              <a:rPr lang="en-AU" altLang="en-US" sz="20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 them to prevent them from becoming zombies </a:t>
            </a:r>
          </a:p>
          <a:p>
            <a:pPr lvl="1" eaLnBrk="1" hangingPunct="1">
              <a:buFont typeface="Wingdings" panose="05000000000000000000" pitchFamily="2" charset="2"/>
              <a:buChar char="à"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establish a signal handler to catch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SIGCHLD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and within the handler, we call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Char char="à"/>
            </a:pPr>
            <a:r>
              <a:rPr lang="en-AU" altLang="en-US" sz="1600" dirty="0">
                <a:solidFill>
                  <a:srgbClr val="292934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Add into server: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signal (SIGCHLD, 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handler</a:t>
            </a:r>
            <a:r>
              <a:rPr lang="en-AU" altLang="en-US" sz="16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);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0432B-10FB-8BC4-0DFE-FC07226C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943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54A3-F0BE-8CB5-0D6A-10019ACF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Verdana" charset="0"/>
                <a:ea typeface="+mj-ea"/>
                <a:cs typeface="Arial" charset="0"/>
              </a:rPr>
              <a:t>wait() and </a:t>
            </a:r>
            <a:r>
              <a:rPr lang="en-AU" dirty="0" err="1">
                <a:latin typeface="Verdana" charset="0"/>
                <a:ea typeface="+mj-ea"/>
                <a:cs typeface="Arial" charset="0"/>
              </a:rPr>
              <a:t>waitpid</a:t>
            </a:r>
            <a:r>
              <a:rPr lang="en-AU" dirty="0">
                <a:latin typeface="Verdana" charset="0"/>
                <a:ea typeface="+mj-ea"/>
                <a:cs typeface="Arial" charset="0"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38617-6F23-6194-84CF-4119EF376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362200"/>
            <a:ext cx="8534400" cy="3814763"/>
          </a:xfrm>
        </p:spPr>
        <p:txBody>
          <a:bodyPr>
            <a:normAutofit/>
          </a:bodyPr>
          <a:lstStyle/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Wait for the status change of a process. Status changes are: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child terminated; 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child was stopped by a signal; or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child was resumed by a signal.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Use to handle the terminated child </a:t>
            </a:r>
          </a:p>
          <a:p>
            <a:pPr eaLnBrk="1" hangingPunct="1"/>
            <a:r>
              <a:rPr lang="en-AU" altLang="en-US" sz="2000" dirty="0">
                <a:latin typeface="Verdana" panose="020B0604030504040204" pitchFamily="34" charset="0"/>
                <a:cs typeface="Arial" panose="020B0604020202020204" pitchFamily="34" charset="0"/>
              </a:rPr>
              <a:t>Both return two values: 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return value of the function </a:t>
            </a:r>
          </a:p>
          <a:p>
            <a:pPr lvl="2" eaLnBrk="1" hangingPunct="1"/>
            <a:r>
              <a:rPr lang="en-AU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is the process ID of the terminated child if OK</a:t>
            </a:r>
          </a:p>
          <a:p>
            <a:pPr lvl="2" eaLnBrk="1" hangingPunct="1"/>
            <a:r>
              <a:rPr lang="en-AU" altLang="en-US" sz="1400" dirty="0">
                <a:latin typeface="Verdana" panose="020B0604030504040204" pitchFamily="34" charset="0"/>
                <a:cs typeface="Arial" panose="020B0604020202020204" pitchFamily="34" charset="0"/>
              </a:rPr>
              <a:t>0 or -1 if error</a:t>
            </a:r>
          </a:p>
          <a:p>
            <a:pPr lvl="1" eaLnBrk="1" hangingPunct="1"/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The termination status of the child (an integer) is returned through the </a:t>
            </a:r>
            <a:r>
              <a:rPr lang="en-AU" altLang="en-US" sz="1800" i="1" dirty="0" err="1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statloc</a:t>
            </a:r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</a:rPr>
              <a:t> pointer.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D32F8-5BE5-A905-24B3-368A6E87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0D30A2D-13B3-5EBB-2112-768F81529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82663"/>
            <a:ext cx="7239000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>
                <a:latin typeface="Verdana" panose="020B0604030504040204" pitchFamily="34" charset="0"/>
              </a:rPr>
              <a:t>#include &lt;sys/</a:t>
            </a:r>
            <a:r>
              <a:rPr lang="en-AU" altLang="en-US" sz="1800" dirty="0" err="1">
                <a:latin typeface="Verdana" panose="020B0604030504040204" pitchFamily="34" charset="0"/>
              </a:rPr>
              <a:t>wait.h</a:t>
            </a:r>
            <a:r>
              <a:rPr lang="en-AU" altLang="en-US" sz="1800" dirty="0">
                <a:latin typeface="Verdana" panose="020B0604030504040204" pitchFamily="34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AU" altLang="en-US" sz="18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 err="1">
                <a:latin typeface="Verdana" panose="020B0604030504040204" pitchFamily="34" charset="0"/>
              </a:rPr>
              <a:t>pid_t</a:t>
            </a:r>
            <a:r>
              <a:rPr lang="en-AU" altLang="en-US" sz="1800" dirty="0">
                <a:latin typeface="Verdana" panose="020B0604030504040204" pitchFamily="34" charset="0"/>
              </a:rPr>
              <a:t> wait (int *</a:t>
            </a:r>
            <a:r>
              <a:rPr lang="en-AU" altLang="en-US" sz="1800" dirty="0" err="1">
                <a:latin typeface="Verdana" panose="020B0604030504040204" pitchFamily="34" charset="0"/>
              </a:rPr>
              <a:t>statloc</a:t>
            </a:r>
            <a:r>
              <a:rPr lang="en-AU" altLang="en-US" sz="1800" dirty="0">
                <a:latin typeface="Verdana" panose="020B0604030504040204" pitchFamily="34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 err="1">
                <a:latin typeface="Verdana" panose="020B0604030504040204" pitchFamily="34" charset="0"/>
              </a:rPr>
              <a:t>pid_t</a:t>
            </a:r>
            <a:r>
              <a:rPr lang="en-AU" altLang="en-US" sz="1800" dirty="0">
                <a:latin typeface="Verdana" panose="020B0604030504040204" pitchFamily="34" charset="0"/>
              </a:rPr>
              <a:t> </a:t>
            </a:r>
            <a:r>
              <a:rPr lang="en-AU" altLang="en-US" sz="1800" dirty="0" err="1">
                <a:latin typeface="Verdana" panose="020B0604030504040204" pitchFamily="34" charset="0"/>
              </a:rPr>
              <a:t>waitpid</a:t>
            </a:r>
            <a:r>
              <a:rPr lang="en-AU" altLang="en-US" sz="1800" dirty="0">
                <a:latin typeface="Verdana" panose="020B0604030504040204" pitchFamily="34" charset="0"/>
              </a:rPr>
              <a:t> (</a:t>
            </a:r>
            <a:r>
              <a:rPr lang="en-AU" altLang="en-US" sz="1800" dirty="0" err="1">
                <a:latin typeface="Verdana" panose="020B0604030504040204" pitchFamily="34" charset="0"/>
              </a:rPr>
              <a:t>pid_t</a:t>
            </a:r>
            <a:r>
              <a:rPr lang="en-AU" altLang="en-US" sz="1800" dirty="0">
                <a:latin typeface="Verdana" panose="020B0604030504040204" pitchFamily="34" charset="0"/>
              </a:rPr>
              <a:t> </a:t>
            </a:r>
            <a:r>
              <a:rPr lang="en-AU" altLang="en-US" sz="1800" dirty="0" err="1">
                <a:latin typeface="Verdana" panose="020B0604030504040204" pitchFamily="34" charset="0"/>
              </a:rPr>
              <a:t>pid</a:t>
            </a:r>
            <a:r>
              <a:rPr lang="en-AU" altLang="en-US" sz="1800" dirty="0">
                <a:latin typeface="Verdana" panose="020B0604030504040204" pitchFamily="34" charset="0"/>
              </a:rPr>
              <a:t>, int *</a:t>
            </a:r>
            <a:r>
              <a:rPr lang="en-AU" altLang="en-US" sz="1800" dirty="0" err="1">
                <a:latin typeface="Verdana" panose="020B0604030504040204" pitchFamily="34" charset="0"/>
              </a:rPr>
              <a:t>statloc</a:t>
            </a:r>
            <a:r>
              <a:rPr lang="en-AU" altLang="en-US" sz="1800" dirty="0">
                <a:latin typeface="Verdana" panose="020B0604030504040204" pitchFamily="34" charset="0"/>
              </a:rPr>
              <a:t>, int options);</a:t>
            </a:r>
            <a:endParaRPr lang="vi-VN" altLang="en-US" sz="18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916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20C5-E33D-2CA6-58D4-A68E6B06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40727-7009-32D1-5C81-F406C04C7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wait for state changes in </a:t>
            </a:r>
            <a:r>
              <a:rPr lang="en-US" altLang="en-US" b="1" dirty="0"/>
              <a:t>a child </a:t>
            </a:r>
            <a:r>
              <a:rPr lang="en-US" altLang="en-US" dirty="0"/>
              <a:t>of the calling process</a:t>
            </a:r>
          </a:p>
          <a:p>
            <a:r>
              <a:rPr lang="en-US" altLang="en-US" dirty="0"/>
              <a:t>In the case of a terminated child, performing a wait allows the system to release the resources associated with the child; </a:t>
            </a:r>
          </a:p>
          <a:p>
            <a:r>
              <a:rPr lang="en-US" altLang="en-US" dirty="0"/>
              <a:t>if a wait is not performed, then the terminated child remains in a "zombie" state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5BC9-147C-EC23-3701-E7714136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445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CD2E-4F64-8AAE-E0F0-9906BDA5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wait() vs </a:t>
            </a:r>
            <a:r>
              <a:rPr lang="en-US" dirty="0" err="1"/>
              <a:t>waitpid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77669-ABA6-F838-1A8E-CF95265A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276600"/>
            <a:ext cx="8534400" cy="2900363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•"/>
              <a:defRPr/>
            </a:pP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Create 5 connections from a client to a forking server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n-AU" sz="2600" dirty="0">
                <a:latin typeface="Verdana" charset="0"/>
                <a:ea typeface="ＭＳ Ｐゴシック" charset="0"/>
                <a:cs typeface="Arial" charset="0"/>
              </a:rPr>
              <a:t>When the client terminates, all open descriptors are closed automatically by the kernel </a:t>
            </a:r>
          </a:p>
          <a:p>
            <a:pPr lvl="1" eaLnBrk="1" hangingPunct="1">
              <a:buFont typeface="Arial" charset="0"/>
              <a:buChar char="•"/>
              <a:defRPr/>
            </a:pPr>
            <a:r>
              <a:rPr lang="en-AU" sz="2200" dirty="0">
                <a:latin typeface="Verdana" charset="0"/>
                <a:ea typeface="ＭＳ Ｐゴシック" charset="0"/>
                <a:cs typeface="Arial" charset="0"/>
                <a:sym typeface="Wingdings" charset="0"/>
              </a:rPr>
              <a:t> five connections ended s</a:t>
            </a:r>
            <a:r>
              <a:rPr lang="en-AU" sz="2200" dirty="0">
                <a:latin typeface="Verdana" charset="0"/>
                <a:ea typeface="ＭＳ Ｐゴシック" charset="0"/>
                <a:cs typeface="Arial" charset="0"/>
              </a:rPr>
              <a:t>imultaneous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endParaRPr lang="en-AU" sz="2600" dirty="0">
              <a:latin typeface="Verdana" charset="0"/>
              <a:ea typeface="ＭＳ Ｐゴシック" charset="0"/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8123C-66D5-370A-3BBD-8B8977CE5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8C0B358-E37B-E0E8-91DD-13F258E57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162800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8817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D8E5-F2C9-B6C2-456C-0FC0DC26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wait() vs </a:t>
            </a:r>
            <a:r>
              <a:rPr lang="en-US" dirty="0" err="1"/>
              <a:t>waitpid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4672C-7CA2-C31C-A1D6-BB3556CC3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429000"/>
            <a:ext cx="8534400" cy="2747963"/>
          </a:xfrm>
        </p:spPr>
        <p:txBody>
          <a:bodyPr>
            <a:normAutofit/>
          </a:bodyPr>
          <a:lstStyle/>
          <a:p>
            <a:pPr eaLnBrk="1" hangingPunct="1"/>
            <a:r>
              <a:rPr lang="en-AU" altLang="en-US" sz="26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five SIGCHILD is sent</a:t>
            </a:r>
          </a:p>
          <a:p>
            <a:pPr eaLnBrk="1" hangingPunct="1"/>
            <a:r>
              <a:rPr lang="en-AU" altLang="en-US" sz="25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signal is handled once with wait () in the server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8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four children are zombies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It can happen when many users connect to a server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100" dirty="0"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we have to use </a:t>
            </a:r>
            <a:r>
              <a:rPr lang="en-AU" altLang="en-US" sz="2100" i="1" dirty="0" err="1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waitpid</a:t>
            </a:r>
            <a:r>
              <a:rPr lang="en-AU" altLang="en-US" sz="2100" i="1" dirty="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403E5-8A7C-5B53-E884-612304A1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41439-8323-F8A1-3AA9-EC71F9801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14400"/>
            <a:ext cx="5943600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2280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501E7-CF87-348E-8FEB-6AFE5CCC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waitpid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62523-C793-DA48-CD3B-B4E845F1D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AU" altLang="en-US" dirty="0" err="1">
                <a:ea typeface="+mn-ea"/>
                <a:cs typeface="+mn-cs"/>
              </a:rPr>
              <a:t>pid_t</a:t>
            </a:r>
            <a:r>
              <a:rPr lang="en-AU" altLang="en-US" dirty="0">
                <a:ea typeface="+mn-ea"/>
                <a:cs typeface="+mn-cs"/>
              </a:rPr>
              <a:t> </a:t>
            </a:r>
            <a:r>
              <a:rPr lang="en-AU" altLang="en-US" dirty="0" err="1">
                <a:ea typeface="+mn-ea"/>
                <a:cs typeface="+mn-cs"/>
              </a:rPr>
              <a:t>waitpid</a:t>
            </a:r>
            <a:r>
              <a:rPr lang="en-AU" altLang="en-US" dirty="0">
                <a:ea typeface="+mn-ea"/>
                <a:cs typeface="+mn-cs"/>
              </a:rPr>
              <a:t> (</a:t>
            </a:r>
            <a:r>
              <a:rPr lang="en-AU" altLang="en-US" dirty="0" err="1">
                <a:ea typeface="+mn-ea"/>
                <a:cs typeface="+mn-cs"/>
              </a:rPr>
              <a:t>pid_t</a:t>
            </a:r>
            <a:r>
              <a:rPr lang="en-AU" altLang="en-US" dirty="0">
                <a:ea typeface="+mn-ea"/>
                <a:cs typeface="+mn-cs"/>
              </a:rPr>
              <a:t> </a:t>
            </a:r>
            <a:r>
              <a:rPr lang="en-AU" altLang="en-US" dirty="0" err="1">
                <a:ea typeface="+mn-ea"/>
                <a:cs typeface="+mn-cs"/>
              </a:rPr>
              <a:t>pid</a:t>
            </a:r>
            <a:r>
              <a:rPr lang="en-AU" altLang="en-US" dirty="0">
                <a:ea typeface="+mn-ea"/>
                <a:cs typeface="+mn-cs"/>
              </a:rPr>
              <a:t>, int *</a:t>
            </a:r>
            <a:r>
              <a:rPr lang="en-AU" altLang="en-US" dirty="0" err="1">
                <a:ea typeface="+mn-ea"/>
                <a:cs typeface="+mn-cs"/>
              </a:rPr>
              <a:t>statloc</a:t>
            </a:r>
            <a:r>
              <a:rPr lang="en-AU" altLang="en-US" dirty="0">
                <a:ea typeface="+mn-ea"/>
                <a:cs typeface="+mn-cs"/>
              </a:rPr>
              <a:t>, int options);</a:t>
            </a:r>
            <a:endParaRPr lang="vi-VN" alt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 &lt; 0: wait for status </a:t>
            </a:r>
            <a:r>
              <a:rPr lang="en-US" dirty="0">
                <a:ea typeface="ＭＳ Ｐゴシック" charset="0"/>
              </a:rPr>
              <a:t>change </a:t>
            </a:r>
            <a:r>
              <a:rPr lang="en-US" dirty="0">
                <a:ea typeface="+mn-ea"/>
                <a:cs typeface="+mn-cs"/>
              </a:rPr>
              <a:t>of any child process whose process group ID is equal to the absolute value of </a:t>
            </a:r>
            <a:r>
              <a:rPr lang="en-US" i="1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. </a:t>
            </a:r>
          </a:p>
          <a:p>
            <a:pPr>
              <a:defRPr/>
            </a:pPr>
            <a:r>
              <a:rPr lang="en-US" b="1" dirty="0" err="1">
                <a:ea typeface="+mn-ea"/>
                <a:cs typeface="+mn-cs"/>
              </a:rPr>
              <a:t>pid</a:t>
            </a:r>
            <a:r>
              <a:rPr lang="en-US" b="1" dirty="0">
                <a:ea typeface="+mn-ea"/>
                <a:cs typeface="+mn-cs"/>
              </a:rPr>
              <a:t> = -1</a:t>
            </a:r>
            <a:r>
              <a:rPr lang="en-US" dirty="0">
                <a:ea typeface="+mn-ea"/>
                <a:cs typeface="+mn-cs"/>
              </a:rPr>
              <a:t>: wait for </a:t>
            </a:r>
            <a:r>
              <a:rPr lang="en-US" dirty="0" err="1">
                <a:ea typeface="ＭＳ Ｐゴシック" charset="0"/>
              </a:rPr>
              <a:t>for</a:t>
            </a:r>
            <a:r>
              <a:rPr lang="en-US" dirty="0">
                <a:ea typeface="ＭＳ Ｐゴシック" charset="0"/>
              </a:rPr>
              <a:t> status change of</a:t>
            </a:r>
            <a:r>
              <a:rPr lang="en-US" dirty="0">
                <a:ea typeface="+mn-ea"/>
                <a:cs typeface="+mn-cs"/>
              </a:rPr>
              <a:t> any child process.</a:t>
            </a:r>
          </a:p>
          <a:p>
            <a:pPr>
              <a:defRPr/>
            </a:pPr>
            <a:r>
              <a:rPr lang="en-US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 = 0: wait for any child process whose process group ID is equal to that of the calling process</a:t>
            </a:r>
          </a:p>
          <a:p>
            <a:pPr>
              <a:defRPr/>
            </a:pPr>
            <a:r>
              <a:rPr lang="en-US" dirty="0" err="1">
                <a:ea typeface="+mn-ea"/>
                <a:cs typeface="+mn-cs"/>
              </a:rPr>
              <a:t>pid</a:t>
            </a:r>
            <a:r>
              <a:rPr lang="en-US" dirty="0">
                <a:ea typeface="+mn-ea"/>
                <a:cs typeface="+mn-cs"/>
              </a:rPr>
              <a:t> &gt; 0: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wait for the child whose process ID is equal to the value of </a:t>
            </a:r>
            <a:r>
              <a:rPr lang="en-US" i="1" dirty="0" err="1">
                <a:solidFill>
                  <a:srgbClr val="FF0000"/>
                </a:solidFill>
                <a:ea typeface="+mn-ea"/>
                <a:cs typeface="+mn-cs"/>
              </a:rPr>
              <a:t>pid</a:t>
            </a:r>
            <a:endParaRPr lang="en-US" i="1" dirty="0">
              <a:solidFill>
                <a:srgbClr val="FF0000"/>
              </a:solidFill>
              <a:ea typeface="+mn-ea"/>
              <a:cs typeface="+mn-cs"/>
            </a:endParaRPr>
          </a:p>
          <a:p>
            <a:pPr>
              <a:defRPr/>
            </a:pPr>
            <a:r>
              <a:rPr lang="en-US" dirty="0">
                <a:ea typeface="+mn-ea"/>
                <a:cs typeface="+mn-cs"/>
              </a:rPr>
              <a:t>Without option </a:t>
            </a:r>
            <a:r>
              <a:rPr lang="en-US" b="1" dirty="0">
                <a:ea typeface="ＭＳ Ｐゴシック" charset="0"/>
              </a:rPr>
              <a:t>WNOHANG, </a:t>
            </a:r>
            <a:r>
              <a:rPr lang="en-US" b="1" dirty="0" err="1">
                <a:ea typeface="ＭＳ Ｐゴシック" charset="0"/>
              </a:rPr>
              <a:t>waitpid</a:t>
            </a:r>
            <a:r>
              <a:rPr lang="en-US" b="1" dirty="0">
                <a:ea typeface="ＭＳ Ｐゴシック" charset="0"/>
              </a:rPr>
              <a:t> </a:t>
            </a:r>
            <a:r>
              <a:rPr lang="en-US" dirty="0">
                <a:ea typeface="+mn-ea"/>
                <a:cs typeface="+mn-cs"/>
              </a:rPr>
              <a:t>blocks until the status change </a:t>
            </a:r>
          </a:p>
          <a:p>
            <a:pPr>
              <a:defRPr/>
            </a:pPr>
            <a:r>
              <a:rPr lang="en-US" dirty="0">
                <a:ea typeface="+mn-ea"/>
                <a:cs typeface="+mn-cs"/>
              </a:rPr>
              <a:t>With option </a:t>
            </a:r>
            <a:r>
              <a:rPr lang="en-US" b="1" dirty="0">
                <a:ea typeface="ＭＳ Ｐゴシック" charset="0"/>
              </a:rPr>
              <a:t>WNOHANG, </a:t>
            </a:r>
            <a:r>
              <a:rPr lang="en-US" b="1" dirty="0" err="1">
                <a:ea typeface="ＭＳ Ｐゴシック" charset="0"/>
              </a:rPr>
              <a:t>waitpid</a:t>
            </a:r>
            <a:r>
              <a:rPr lang="en-US" b="1" dirty="0">
                <a:ea typeface="ＭＳ Ｐゴシック" charset="0"/>
              </a:rPr>
              <a:t> </a:t>
            </a:r>
            <a:r>
              <a:rPr lang="en-US" dirty="0">
                <a:ea typeface="ＭＳ Ｐゴシック" charset="0"/>
              </a:rPr>
              <a:t>returns immediately </a:t>
            </a: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dirty="0">
                <a:ea typeface="+mn-ea"/>
                <a:cs typeface="+mn-cs"/>
              </a:rPr>
              <a:t>Return</a:t>
            </a:r>
          </a:p>
          <a:p>
            <a:pPr marL="617537" lvl="1" indent="-342900">
              <a:defRPr/>
            </a:pPr>
            <a:r>
              <a:rPr lang="en-US" dirty="0" err="1">
                <a:ea typeface="+mn-ea"/>
              </a:rPr>
              <a:t>Pid</a:t>
            </a:r>
            <a:r>
              <a:rPr lang="en-US" dirty="0">
                <a:ea typeface="+mn-ea"/>
              </a:rPr>
              <a:t> of the child whose state has changed </a:t>
            </a:r>
          </a:p>
          <a:p>
            <a:pPr marL="617537" lvl="1" indent="-342900">
              <a:defRPr/>
            </a:pPr>
            <a:r>
              <a:rPr lang="en-US" dirty="0">
                <a:ea typeface="+mn-ea"/>
              </a:rPr>
              <a:t>With option </a:t>
            </a:r>
            <a:r>
              <a:rPr lang="en-US" b="1" dirty="0">
                <a:ea typeface="ＭＳ Ｐゴシック" charset="0"/>
              </a:rPr>
              <a:t>WNOHANG</a:t>
            </a:r>
            <a:r>
              <a:rPr lang="en-US" dirty="0">
                <a:ea typeface="ＭＳ Ｐゴシック" charset="0"/>
              </a:rPr>
              <a:t>, return 0 if the specified process has not changed status.</a:t>
            </a:r>
            <a:endParaRPr lang="en-US" dirty="0">
              <a:ea typeface="+mn-ea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1E111-31C6-1B89-A2B8-B2E30D31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5948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110E-70E1-DDB4-EDA2-CA69EBCC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Verdana" charset="0"/>
                <a:ea typeface="+mj-ea"/>
                <a:cs typeface="Arial" charset="0"/>
              </a:rPr>
              <a:t>Forking 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34C6-89C3-C235-DEBF-F5A3CAF5B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pid_t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int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>
              <a:lnSpc>
                <a:spcPct val="80000"/>
              </a:lnSpc>
              <a:buNone/>
            </a:pPr>
            <a:r>
              <a:rPr lang="en-AU" altLang="en-US" sz="1800" b="1" dirty="0">
                <a:latin typeface="Verdana" panose="020B0604030504040204" pitchFamily="34" charset="0"/>
                <a:cs typeface="Arial" panose="020B0604020202020204" pitchFamily="34" charset="0"/>
              </a:rPr>
              <a:t>signal(</a:t>
            </a:r>
            <a:r>
              <a:rPr lang="en-AU" altLang="en-US" sz="1800" b="1" dirty="0" err="1">
                <a:latin typeface="Verdana" panose="020B0604030504040204" pitchFamily="34" charset="0"/>
                <a:cs typeface="Arial" panose="020B0604020202020204" pitchFamily="34" charset="0"/>
              </a:rPr>
              <a:t>SIGCHLD,sig_chld</a:t>
            </a:r>
            <a:r>
              <a:rPr lang="en-AU" altLang="en-US" sz="1800" b="1" dirty="0">
                <a:latin typeface="Verdana" panose="020B0604030504040204" pitchFamily="34" charset="0"/>
                <a:cs typeface="Arial" panose="020B0604020202020204" pitchFamily="34" charset="0"/>
              </a:rPr>
              <a:t>);</a:t>
            </a:r>
            <a:endParaRPr lang="en-AU" altLang="en-US" sz="19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 = socket( ... );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bind(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... 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listen(</a:t>
            </a:r>
            <a:r>
              <a:rPr lang="en-AU" altLang="en-US" sz="19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, 5);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for ( ; ; ) {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accept 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, ... ); /* probably blocks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if( 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 = fork()) == 0) {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listenfd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); /* child closes listening socket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doit(</a:t>
            </a:r>
            <a:r>
              <a:rPr lang="en-AU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); /* process the request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close(</a:t>
            </a:r>
            <a:r>
              <a:rPr lang="en-AU" altLang="en-US" sz="16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); /* done with this client */ 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600" dirty="0">
                <a:latin typeface="Verdana" panose="020B0604030504040204" pitchFamily="34" charset="0"/>
                <a:cs typeface="Arial" panose="020B0604020202020204" pitchFamily="34" charset="0"/>
              </a:rPr>
              <a:t>exit(0); /* child terminates */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}else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	close(</a:t>
            </a:r>
            <a:r>
              <a:rPr lang="en-AU" altLang="en-US" sz="1700" dirty="0" err="1">
                <a:latin typeface="Verdana" panose="020B0604030504040204" pitchFamily="34" charset="0"/>
                <a:cs typeface="Arial" panose="020B0604020202020204" pitchFamily="34" charset="0"/>
              </a:rPr>
              <a:t>connfd</a:t>
            </a:r>
            <a:r>
              <a:rPr lang="en-AU" altLang="en-US" sz="1700" dirty="0">
                <a:latin typeface="Verdana" panose="020B0604030504040204" pitchFamily="34" charset="0"/>
                <a:cs typeface="Arial" panose="020B0604020202020204" pitchFamily="34" charset="0"/>
              </a:rPr>
              <a:t>); /* parent closes connected socket */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AU" altLang="en-US" sz="19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44EAD-5FAA-EACE-7446-6FBBF89A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57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53F4-18B2-543D-2B25-916B6375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>
                <a:latin typeface="Verdana" charset="0"/>
                <a:ea typeface="+mj-ea"/>
                <a:cs typeface="Arial" charset="0"/>
              </a:rPr>
              <a:t>sig_chld</a:t>
            </a:r>
            <a:r>
              <a:rPr lang="en-AU" dirty="0">
                <a:latin typeface="Verdana" charset="0"/>
                <a:ea typeface="+mj-ea"/>
                <a:cs typeface="Arial" charset="0"/>
              </a:rPr>
              <a:t>: </a:t>
            </a:r>
            <a:r>
              <a:rPr lang="en-AU" dirty="0">
                <a:latin typeface="Verdana" charset="0"/>
                <a:ea typeface="ＭＳ Ｐゴシック" charset="0"/>
                <a:cs typeface="Arial" charset="0"/>
              </a:rPr>
              <a:t>SIGCHLD handler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326D9-A3B5-9FD9-BD26-7018299DD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AU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void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sig_chld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(int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signo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pid_t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int stat;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while ( (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=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(-1, &amp;stat, WNOHANG)) &gt; 0)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	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printf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("child %d terminated\n",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);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	return;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/*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400" dirty="0">
                <a:latin typeface="Verdana" panose="020B0604030504040204" pitchFamily="34" charset="0"/>
                <a:cs typeface="Arial" panose="020B0604020202020204" pitchFamily="34" charset="0"/>
              </a:rPr>
              <a:t>WNOHANG: </a:t>
            </a:r>
            <a:r>
              <a:rPr lang="en-AU" altLang="en-US" sz="24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400" dirty="0">
                <a:latin typeface="Verdana" panose="020B0604030504040204" pitchFamily="34" charset="0"/>
                <a:cs typeface="Arial" panose="020B0604020202020204" pitchFamily="34" charset="0"/>
              </a:rPr>
              <a:t> does not block 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while loop: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repeatedly until there is no child process change status,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i.e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until </a:t>
            </a:r>
            <a:r>
              <a:rPr lang="en-AU" altLang="en-US" sz="2800" dirty="0" err="1">
                <a:latin typeface="Verdana" panose="020B0604030504040204" pitchFamily="34" charset="0"/>
                <a:cs typeface="Arial" panose="020B0604020202020204" pitchFamily="34" charset="0"/>
              </a:rPr>
              <a:t>waitpid</a:t>
            </a:r>
            <a:r>
              <a:rPr lang="en-AU" altLang="en-US" sz="2800" dirty="0">
                <a:latin typeface="Verdana" panose="020B0604030504040204" pitchFamily="34" charset="0"/>
                <a:cs typeface="Arial" panose="020B0604020202020204" pitchFamily="34" charset="0"/>
              </a:rPr>
              <a:t> returns 0.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*/</a:t>
            </a:r>
            <a:endParaRPr lang="en-AU" altLang="en-US" sz="2800" dirty="0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1A76E-8E97-EAAA-16C1-C300083D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037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2F69-0AF2-ED34-72F9-46FC3D3C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Exercise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3527-B6FA-A6B1-0D92-F2205F650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>
                <a:ea typeface="ＭＳ Ｐゴシック" charset="0"/>
              </a:rPr>
              <a:t>1) Make your TCP </a:t>
            </a:r>
            <a:r>
              <a:rPr lang="en-US" dirty="0" err="1">
                <a:ea typeface="ＭＳ Ｐゴシック" charset="0"/>
              </a:rPr>
              <a:t>EchoServer</a:t>
            </a:r>
            <a:r>
              <a:rPr lang="en-US" dirty="0">
                <a:ea typeface="ＭＳ Ｐゴシック" charset="0"/>
              </a:rPr>
              <a:t> be able to work with multiple client in the same time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Use forking process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>
                <a:ea typeface="ＭＳ Ｐゴシック" charset="0"/>
              </a:rPr>
              <a:t>Handle the SIGCHLD signal in server</a:t>
            </a:r>
          </a:p>
          <a:p>
            <a:pPr marL="0" indent="0">
              <a:buNone/>
              <a:defRPr/>
            </a:pPr>
            <a:r>
              <a:rPr lang="en-US" dirty="0">
                <a:ea typeface="ＭＳ Ｐゴシック" charset="0"/>
              </a:rPr>
              <a:t>2) Write a “chat room” forking server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Accept connection from multiple clients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Receive a message from one client then forward to all the others.	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9DB93-3CA3-E0E7-4406-B5EED9E9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445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BE7E-CEBB-96EA-4383-1147647D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Sharing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8A91-ECF7-F9EF-A9A4-F49A1B11F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server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/>
              <a:t>1 client</a:t>
            </a:r>
            <a:endParaRPr lang="en-US" dirty="0"/>
          </a:p>
          <a:p>
            <a:pPr lvl="1"/>
            <a:r>
              <a:rPr lang="en-US" dirty="0"/>
              <a:t>Server:</a:t>
            </a:r>
          </a:p>
          <a:p>
            <a:pPr lvl="2"/>
            <a:r>
              <a:rPr lang="en-US" dirty="0"/>
              <a:t>Fork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1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recvfrom</a:t>
            </a:r>
            <a:r>
              <a:rPr lang="en-US" dirty="0"/>
              <a:t> (6000)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client broadcast &lt;TÊN&gt;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&lt;IP&gt; &lt;TÊN&gt; </a:t>
            </a:r>
            <a:r>
              <a:rPr lang="en-US" dirty="0" err="1"/>
              <a:t>vào</a:t>
            </a:r>
            <a:r>
              <a:rPr lang="en-US" dirty="0"/>
              <a:t> 1 file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Fork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1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TCP 5000 </a:t>
            </a:r>
            <a:r>
              <a:rPr lang="en-US" dirty="0" err="1"/>
              <a:t>và</a:t>
            </a:r>
            <a:r>
              <a:rPr lang="en-US" dirty="0"/>
              <a:t> accept: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accept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&lt;IP&gt; </a:t>
            </a:r>
            <a:r>
              <a:rPr lang="en-US" dirty="0" err="1"/>
              <a:t>và</a:t>
            </a:r>
            <a:r>
              <a:rPr lang="en-US" dirty="0"/>
              <a:t> &lt;TÊN&gt; </a:t>
            </a:r>
            <a:r>
              <a:rPr lang="en-US" dirty="0" err="1"/>
              <a:t>cho</a:t>
            </a:r>
            <a:r>
              <a:rPr lang="en-US" dirty="0"/>
              <a:t> client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Client:</a:t>
            </a:r>
          </a:p>
          <a:p>
            <a:pPr lvl="2"/>
            <a:r>
              <a:rPr lang="en-US" dirty="0"/>
              <a:t>Fork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1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 </a:t>
            </a:r>
            <a:r>
              <a:rPr lang="en-US" dirty="0" err="1"/>
              <a:t>chuyên</a:t>
            </a:r>
            <a:r>
              <a:rPr lang="en-US" dirty="0"/>
              <a:t> broadcast </a:t>
            </a:r>
            <a:r>
              <a:rPr lang="en-US" dirty="0" err="1"/>
              <a:t>tên</a:t>
            </a:r>
            <a:r>
              <a:rPr lang="en-US" dirty="0"/>
              <a:t> (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)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6000 (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Fork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1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con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server:5000</a:t>
            </a:r>
          </a:p>
          <a:p>
            <a:pPr lvl="4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04A70-E790-52E3-D7FE-D8E56BD8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3060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C474888188D540AFA86CE9C65317C9" ma:contentTypeVersion="3" ma:contentTypeDescription="Create a new document." ma:contentTypeScope="" ma:versionID="bbd67c309dfc566ef3b0cea98900db94">
  <xsd:schema xmlns:xsd="http://www.w3.org/2001/XMLSchema" xmlns:xs="http://www.w3.org/2001/XMLSchema" xmlns:p="http://schemas.microsoft.com/office/2006/metadata/properties" xmlns:ns2="37173c3c-a499-43c7-83aa-86df2c681fb8" targetNamespace="http://schemas.microsoft.com/office/2006/metadata/properties" ma:root="true" ma:fieldsID="3cc18fa708c72388438cb9056eb04a0f" ns2:_="">
    <xsd:import namespace="37173c3c-a499-43c7-83aa-86df2c681f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73c3c-a499-43c7-83aa-86df2c681f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A6F40F-8DB9-473C-BE53-902EF89AE4C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23A40CB-8EF8-4D98-81C7-F186C5C109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3FEC4D-7C25-4FA2-86EA-066D5EDDCFFE}"/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TotalTime>18020</TotalTime>
  <Words>1768</Words>
  <Application>Microsoft Office PowerPoint</Application>
  <PresentationFormat>On-screen Show (4:3)</PresentationFormat>
  <Paragraphs>229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SoICT-PPT-template(official) - Eng^0Vie (4x3)</vt:lpstr>
      <vt:lpstr>1_Office Theme</vt:lpstr>
      <vt:lpstr>Multi-Process TCP Server </vt:lpstr>
      <vt:lpstr>References</vt:lpstr>
      <vt:lpstr>Content</vt:lpstr>
      <vt:lpstr>Single-client Server</vt:lpstr>
      <vt:lpstr>Fork process</vt:lpstr>
      <vt:lpstr>fork examples</vt:lpstr>
      <vt:lpstr>fork examples</vt:lpstr>
      <vt:lpstr>fork</vt:lpstr>
      <vt:lpstr>Child Process Termination</vt:lpstr>
      <vt:lpstr>Signaling</vt:lpstr>
      <vt:lpstr>Signaling</vt:lpstr>
      <vt:lpstr>Signaling</vt:lpstr>
      <vt:lpstr>PowerPoint Presentation</vt:lpstr>
      <vt:lpstr>Handle a signal using sigaction </vt:lpstr>
      <vt:lpstr>Handle a signal using sigaction </vt:lpstr>
      <vt:lpstr>Example </vt:lpstr>
      <vt:lpstr>Handle a signal using signal function</vt:lpstr>
      <vt:lpstr>Example</vt:lpstr>
      <vt:lpstr>Handling SIGCHLD Signals </vt:lpstr>
      <vt:lpstr>wait() and waitpid()</vt:lpstr>
      <vt:lpstr>wait()</vt:lpstr>
      <vt:lpstr>wait() vs waitpid()</vt:lpstr>
      <vt:lpstr>wait() vs waitpid()</vt:lpstr>
      <vt:lpstr>waitpid()</vt:lpstr>
      <vt:lpstr>Forking server</vt:lpstr>
      <vt:lpstr>sig_chld: SIGCHLD handler</vt:lpstr>
      <vt:lpstr>Exercise </vt:lpstr>
      <vt:lpstr>File Sharing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Vinh La</cp:lastModifiedBy>
  <cp:revision>347</cp:revision>
  <dcterms:created xsi:type="dcterms:W3CDTF">2011-09-29T02:04:50Z</dcterms:created>
  <dcterms:modified xsi:type="dcterms:W3CDTF">2026-09-21T04:13:23Z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0x010100A1C474888188D540AFA86CE9C65317C9</vt:lpwstr>
  </property>
</Properties>
</file>