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  <p:sldMasterId id="2147483726" r:id="rId5"/>
  </p:sldMasterIdLst>
  <p:notesMasterIdLst>
    <p:notesMasterId r:id="rId51"/>
  </p:notesMasterIdLst>
  <p:handoutMasterIdLst>
    <p:handoutMasterId r:id="rId52"/>
  </p:handoutMasterIdLst>
  <p:sldIdLst>
    <p:sldId id="256" r:id="rId6"/>
    <p:sldId id="264" r:id="rId7"/>
    <p:sldId id="455" r:id="rId8"/>
    <p:sldId id="456" r:id="rId9"/>
    <p:sldId id="482" r:id="rId10"/>
    <p:sldId id="483" r:id="rId11"/>
    <p:sldId id="457" r:id="rId12"/>
    <p:sldId id="484" r:id="rId13"/>
    <p:sldId id="492" r:id="rId14"/>
    <p:sldId id="505" r:id="rId15"/>
    <p:sldId id="493" r:id="rId16"/>
    <p:sldId id="485" r:id="rId17"/>
    <p:sldId id="506" r:id="rId18"/>
    <p:sldId id="486" r:id="rId19"/>
    <p:sldId id="487" r:id="rId20"/>
    <p:sldId id="458" r:id="rId21"/>
    <p:sldId id="488" r:id="rId22"/>
    <p:sldId id="459" r:id="rId23"/>
    <p:sldId id="489" r:id="rId24"/>
    <p:sldId id="490" r:id="rId25"/>
    <p:sldId id="491" r:id="rId26"/>
    <p:sldId id="494" r:id="rId27"/>
    <p:sldId id="495" r:id="rId28"/>
    <p:sldId id="496" r:id="rId29"/>
    <p:sldId id="497" r:id="rId30"/>
    <p:sldId id="498" r:id="rId31"/>
    <p:sldId id="499" r:id="rId32"/>
    <p:sldId id="500" r:id="rId33"/>
    <p:sldId id="504" r:id="rId34"/>
    <p:sldId id="501" r:id="rId35"/>
    <p:sldId id="502" r:id="rId36"/>
    <p:sldId id="503" r:id="rId37"/>
    <p:sldId id="481" r:id="rId38"/>
    <p:sldId id="507" r:id="rId39"/>
    <p:sldId id="514" r:id="rId40"/>
    <p:sldId id="508" r:id="rId41"/>
    <p:sldId id="510" r:id="rId42"/>
    <p:sldId id="509" r:id="rId43"/>
    <p:sldId id="513" r:id="rId44"/>
    <p:sldId id="511" r:id="rId45"/>
    <p:sldId id="517" r:id="rId46"/>
    <p:sldId id="512" r:id="rId47"/>
    <p:sldId id="518" r:id="rId48"/>
    <p:sldId id="515" r:id="rId49"/>
    <p:sldId id="516" r:id="rId50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FAE7D64-6963-4D62-895D-7BF0D93F7A92}">
          <p14:sldIdLst>
            <p14:sldId id="256"/>
            <p14:sldId id="264"/>
            <p14:sldId id="455"/>
            <p14:sldId id="456"/>
            <p14:sldId id="482"/>
            <p14:sldId id="483"/>
            <p14:sldId id="457"/>
            <p14:sldId id="484"/>
            <p14:sldId id="492"/>
            <p14:sldId id="505"/>
            <p14:sldId id="493"/>
            <p14:sldId id="485"/>
            <p14:sldId id="506"/>
            <p14:sldId id="486"/>
            <p14:sldId id="487"/>
            <p14:sldId id="458"/>
            <p14:sldId id="488"/>
            <p14:sldId id="459"/>
            <p14:sldId id="489"/>
            <p14:sldId id="490"/>
            <p14:sldId id="491"/>
            <p14:sldId id="494"/>
            <p14:sldId id="495"/>
            <p14:sldId id="496"/>
          </p14:sldIdLst>
        </p14:section>
        <p14:section name="Untitled Section" id="{7B334EF5-C9D6-4A65-A255-DBC416AFB616}">
          <p14:sldIdLst>
            <p14:sldId id="497"/>
            <p14:sldId id="498"/>
            <p14:sldId id="499"/>
            <p14:sldId id="500"/>
            <p14:sldId id="504"/>
            <p14:sldId id="501"/>
            <p14:sldId id="502"/>
            <p14:sldId id="503"/>
            <p14:sldId id="481"/>
            <p14:sldId id="507"/>
            <p14:sldId id="514"/>
            <p14:sldId id="508"/>
            <p14:sldId id="510"/>
            <p14:sldId id="509"/>
            <p14:sldId id="513"/>
            <p14:sldId id="511"/>
            <p14:sldId id="517"/>
            <p14:sldId id="512"/>
            <p14:sldId id="518"/>
            <p14:sldId id="515"/>
            <p14:sldId id="5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5124"/>
    <a:srgbClr val="0000CC"/>
    <a:srgbClr val="220076"/>
    <a:srgbClr val="996600"/>
    <a:srgbClr val="9469FF"/>
    <a:srgbClr val="D1EAEB"/>
    <a:srgbClr val="DF3507"/>
    <a:srgbClr val="FDCC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8C801C-8179-BEEB-6FB6-094F84FBE47A}" v="3" dt="2026-09-14T03:25:52.678"/>
    <p1510:client id="{67372DF3-72B5-31A1-66F5-67A5E833B59B}" v="2" dt="2026-09-14T03:16:48.400"/>
    <p1510:client id="{6C041408-076B-DFF6-073E-BAAAD6394797}" v="2" dt="2026-09-14T04:31:23.255"/>
    <p1510:client id="{6DD648EA-221A-6D5B-B851-28C9B670BF75}" v="1" dt="2026-09-14T04:24:31.997"/>
    <p1510:client id="{DC314F14-3034-92A3-2C39-CD85C429AF9F}" v="2" dt="2026-09-14T04:25:32.943"/>
    <p1510:client id="{E5897610-F112-BC58-3573-78377182D0B0}" v="5" dt="2026-09-13T14:31:12.1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microsoft.com/office/2016/11/relationships/changesInfo" Target="changesInfos/changesInfo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 Quang Nam 20235792" userId="S::nam.pq235792@sis.hust.edu.vn::166830df-03ea-493e-bd5a-3904efde1654" providerId="AD" clId="Web-{E5897610-F112-BC58-3573-78377182D0B0}"/>
    <pc:docChg chg="modSld">
      <pc:chgData name="Pham Quang Nam 20235792" userId="S::nam.pq235792@sis.hust.edu.vn::166830df-03ea-493e-bd5a-3904efde1654" providerId="AD" clId="Web-{E5897610-F112-BC58-3573-78377182D0B0}" dt="2026-09-13T14:31:12.125" v="4" actId="20577"/>
      <pc:docMkLst>
        <pc:docMk/>
      </pc:docMkLst>
      <pc:sldChg chg="modSp">
        <pc:chgData name="Pham Quang Nam 20235792" userId="S::nam.pq235792@sis.hust.edu.vn::166830df-03ea-493e-bd5a-3904efde1654" providerId="AD" clId="Web-{E5897610-F112-BC58-3573-78377182D0B0}" dt="2026-09-13T14:31:12.125" v="4" actId="20577"/>
        <pc:sldMkLst>
          <pc:docMk/>
          <pc:sldMk cId="1088313424" sldId="456"/>
        </pc:sldMkLst>
        <pc:spChg chg="mod">
          <ac:chgData name="Pham Quang Nam 20235792" userId="S::nam.pq235792@sis.hust.edu.vn::166830df-03ea-493e-bd5a-3904efde1654" providerId="AD" clId="Web-{E5897610-F112-BC58-3573-78377182D0B0}" dt="2026-09-13T14:31:12.125" v="4" actId="20577"/>
          <ac:spMkLst>
            <pc:docMk/>
            <pc:sldMk cId="1088313424" sldId="456"/>
            <ac:spMk id="363" creationId="{1B107B1A-38EB-4344-B923-E3F6DFD61922}"/>
          </ac:spMkLst>
        </pc:spChg>
      </pc:sldChg>
    </pc:docChg>
  </pc:docChgLst>
  <pc:docChgLst>
    <pc:chgData name="Nguyen Duc Minh 20225885" userId="S::minh.nd225885@sis.hust.edu.vn::cfc6435c-0eb7-4f79-9646-1c1a86fe06af" providerId="AD" clId="Web-{67372DF3-72B5-31A1-66F5-67A5E833B59B}"/>
    <pc:docChg chg="addSld delSld modSection">
      <pc:chgData name="Nguyen Duc Minh 20225885" userId="S::minh.nd225885@sis.hust.edu.vn::cfc6435c-0eb7-4f79-9646-1c1a86fe06af" providerId="AD" clId="Web-{67372DF3-72B5-31A1-66F5-67A5E833B59B}" dt="2026-09-14T03:16:48.400" v="1"/>
      <pc:docMkLst>
        <pc:docMk/>
      </pc:docMkLst>
      <pc:sldChg chg="new del">
        <pc:chgData name="Nguyen Duc Minh 20225885" userId="S::minh.nd225885@sis.hust.edu.vn::cfc6435c-0eb7-4f79-9646-1c1a86fe06af" providerId="AD" clId="Web-{67372DF3-72B5-31A1-66F5-67A5E833B59B}" dt="2026-09-14T03:16:48.400" v="1"/>
        <pc:sldMkLst>
          <pc:docMk/>
          <pc:sldMk cId="2078788975" sldId="519"/>
        </pc:sldMkLst>
      </pc:sldChg>
    </pc:docChg>
  </pc:docChgLst>
  <pc:docChgLst>
    <pc:chgData name="Le Quoc Vung 202417085" userId="S::vung.lq2417085@sis.hust.edu.vn::c7405b08-517a-40ee-8c7e-41684d6f7a71" providerId="AD" clId="Web-{00000000-0000-0000-0000-000000000000}"/>
    <pc:docChg chg="sldOrd">
      <pc:chgData name="Le Quoc Vung 202417085" userId="S::vung.lq2417085@sis.hust.edu.vn::c7405b08-517a-40ee-8c7e-41684d6f7a71" providerId="AD" clId="Web-{00000000-0000-0000-0000-000000000000}" dt="2026-09-07T03:35:54.950" v="0"/>
      <pc:docMkLst>
        <pc:docMk/>
      </pc:docMkLst>
      <pc:sldChg chg="ord">
        <pc:chgData name="Le Quoc Vung 202417085" userId="S::vung.lq2417085@sis.hust.edu.vn::c7405b08-517a-40ee-8c7e-41684d6f7a71" providerId="AD" clId="Web-{00000000-0000-0000-0000-000000000000}" dt="2026-09-07T03:35:54.950" v="0"/>
        <pc:sldMkLst>
          <pc:docMk/>
          <pc:sldMk cId="1088313424" sldId="456"/>
        </pc:sldMkLst>
      </pc:sldChg>
    </pc:docChg>
  </pc:docChgLst>
  <pc:docChgLst>
    <pc:chgData name="Nguyen Hoang Viet 20215168" userId="S::viet.nh215168@sis.hust.edu.vn::d2a6859f-001e-4755-b403-5377b5b17c2a" providerId="AD" clId="Web-{288C801C-8179-BEEB-6FB6-094F84FBE47A}"/>
    <pc:docChg chg="sldOrd">
      <pc:chgData name="Nguyen Hoang Viet 20215168" userId="S::viet.nh215168@sis.hust.edu.vn::d2a6859f-001e-4755-b403-5377b5b17c2a" providerId="AD" clId="Web-{288C801C-8179-BEEB-6FB6-094F84FBE47A}" dt="2026-09-14T03:25:52.678" v="2"/>
      <pc:docMkLst>
        <pc:docMk/>
      </pc:docMkLst>
      <pc:sldChg chg="ord">
        <pc:chgData name="Nguyen Hoang Viet 20215168" userId="S::viet.nh215168@sis.hust.edu.vn::d2a6859f-001e-4755-b403-5377b5b17c2a" providerId="AD" clId="Web-{288C801C-8179-BEEB-6FB6-094F84FBE47A}" dt="2026-09-14T03:22:42.405" v="0"/>
        <pc:sldMkLst>
          <pc:docMk/>
          <pc:sldMk cId="3531307206" sldId="457"/>
        </pc:sldMkLst>
      </pc:sldChg>
      <pc:sldChg chg="ord">
        <pc:chgData name="Nguyen Hoang Viet 20215168" userId="S::viet.nh215168@sis.hust.edu.vn::d2a6859f-001e-4755-b403-5377b5b17c2a" providerId="AD" clId="Web-{288C801C-8179-BEEB-6FB6-094F84FBE47A}" dt="2026-09-14T03:25:52.678" v="2"/>
        <pc:sldMkLst>
          <pc:docMk/>
          <pc:sldMk cId="3626070236" sldId="489"/>
        </pc:sldMkLst>
      </pc:sldChg>
      <pc:sldChg chg="ord">
        <pc:chgData name="Nguyen Hoang Viet 20215168" userId="S::viet.nh215168@sis.hust.edu.vn::d2a6859f-001e-4755-b403-5377b5b17c2a" providerId="AD" clId="Web-{288C801C-8179-BEEB-6FB6-094F84FBE47A}" dt="2026-09-14T03:23:21.141" v="1"/>
        <pc:sldMkLst>
          <pc:docMk/>
          <pc:sldMk cId="3761537697" sldId="493"/>
        </pc:sldMkLst>
      </pc:sldChg>
    </pc:docChg>
  </pc:docChgLst>
  <pc:docChgLst>
    <pc:chgData name="Nguyen Hoang Viet 20215168" userId="S::viet.nh215168@sis.hust.edu.vn::d2a6859f-001e-4755-b403-5377b5b17c2a" providerId="AD" clId="Web-{6C041408-076B-DFF6-073E-BAAAD6394797}"/>
    <pc:docChg chg="sldOrd">
      <pc:chgData name="Nguyen Hoang Viet 20215168" userId="S::viet.nh215168@sis.hust.edu.vn::d2a6859f-001e-4755-b403-5377b5b17c2a" providerId="AD" clId="Web-{6C041408-076B-DFF6-073E-BAAAD6394797}" dt="2026-09-14T04:31:23.255" v="1"/>
      <pc:docMkLst>
        <pc:docMk/>
      </pc:docMkLst>
      <pc:sldChg chg="ord">
        <pc:chgData name="Nguyen Hoang Viet 20215168" userId="S::viet.nh215168@sis.hust.edu.vn::d2a6859f-001e-4755-b403-5377b5b17c2a" providerId="AD" clId="Web-{6C041408-076B-DFF6-073E-BAAAD6394797}" dt="2026-09-14T04:31:23.255" v="1"/>
        <pc:sldMkLst>
          <pc:docMk/>
          <pc:sldMk cId="3585025335" sldId="495"/>
        </pc:sldMkLst>
      </pc:sldChg>
      <pc:sldChg chg="ord">
        <pc:chgData name="Nguyen Hoang Viet 20215168" userId="S::viet.nh215168@sis.hust.edu.vn::d2a6859f-001e-4755-b403-5377b5b17c2a" providerId="AD" clId="Web-{6C041408-076B-DFF6-073E-BAAAD6394797}" dt="2026-09-14T04:25:18.133" v="0"/>
        <pc:sldMkLst>
          <pc:docMk/>
          <pc:sldMk cId="3005988293" sldId="511"/>
        </pc:sldMkLst>
      </pc:sldChg>
    </pc:docChg>
  </pc:docChgLst>
  <pc:docChgLst>
    <pc:chgData name="Nguyen Le Minh 20205002" userId="S::minh.nl205002@sis.hust.edu.vn::aa438954-df6a-4996-9e88-0a17f59eae3a" providerId="AD" clId="Web-{6DD648EA-221A-6D5B-B851-28C9B670BF75}"/>
    <pc:docChg chg="sldOrd">
      <pc:chgData name="Nguyen Le Minh 20205002" userId="S::minh.nl205002@sis.hust.edu.vn::aa438954-df6a-4996-9e88-0a17f59eae3a" providerId="AD" clId="Web-{6DD648EA-221A-6D5B-B851-28C9B670BF75}" dt="2026-09-14T04:24:31.997" v="0"/>
      <pc:docMkLst>
        <pc:docMk/>
      </pc:docMkLst>
      <pc:sldChg chg="ord">
        <pc:chgData name="Nguyen Le Minh 20205002" userId="S::minh.nl205002@sis.hust.edu.vn::aa438954-df6a-4996-9e88-0a17f59eae3a" providerId="AD" clId="Web-{6DD648EA-221A-6D5B-B851-28C9B670BF75}" dt="2026-09-14T04:24:31.997" v="0"/>
        <pc:sldMkLst>
          <pc:docMk/>
          <pc:sldMk cId="3585025335" sldId="495"/>
        </pc:sldMkLst>
      </pc:sldChg>
    </pc:docChg>
  </pc:docChgLst>
  <pc:docChgLst>
    <pc:chgData name="Do Thanh Hung 20235739" userId="S::hung.dt235739@sis.hust.edu.vn::997c0e21-a884-438e-9f29-ba61f4948e10" providerId="AD" clId="Web-{DC314F14-3034-92A3-2C39-CD85C429AF9F}"/>
    <pc:docChg chg="sldOrd">
      <pc:chgData name="Do Thanh Hung 20235739" userId="S::hung.dt235739@sis.hust.edu.vn::997c0e21-a884-438e-9f29-ba61f4948e10" providerId="AD" clId="Web-{DC314F14-3034-92A3-2C39-CD85C429AF9F}" dt="2026-09-14T04:25:32.943" v="1"/>
      <pc:docMkLst>
        <pc:docMk/>
      </pc:docMkLst>
      <pc:sldChg chg="ord">
        <pc:chgData name="Do Thanh Hung 20235739" userId="S::hung.dt235739@sis.hust.edu.vn::997c0e21-a884-438e-9f29-ba61f4948e10" providerId="AD" clId="Web-{DC314F14-3034-92A3-2C39-CD85C429AF9F}" dt="2026-09-14T03:29:14.801" v="0"/>
        <pc:sldMkLst>
          <pc:docMk/>
          <pc:sldMk cId="2512186915" sldId="264"/>
        </pc:sldMkLst>
      </pc:sldChg>
      <pc:sldChg chg="ord">
        <pc:chgData name="Do Thanh Hung 20235739" userId="S::hung.dt235739@sis.hust.edu.vn::997c0e21-a884-438e-9f29-ba61f4948e10" providerId="AD" clId="Web-{DC314F14-3034-92A3-2C39-CD85C429AF9F}" dt="2026-09-14T04:25:32.943" v="1"/>
        <pc:sldMkLst>
          <pc:docMk/>
          <pc:sldMk cId="923538888" sldId="5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2939EE1D-03F2-451E-B640-742574D05F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6065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5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275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 b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5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b="0"/>
            </a:lvl1pPr>
          </a:lstStyle>
          <a:p>
            <a:pPr>
              <a:defRPr/>
            </a:pPr>
            <a:fld id="{D137D36C-F1B5-4994-81A6-876042D30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9122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3AB8482-9D7A-43F7-A7B5-3B6BC80782E0}" type="slidenum">
              <a:rPr lang="en-US" altLang="en-US" sz="1300" b="0" smtClean="0"/>
              <a:pPr/>
              <a:t>1</a:t>
            </a:fld>
            <a:endParaRPr lang="en-US" altLang="en-US" sz="1300" b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202170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3CD2AF4-F75A-48F2-B42C-FFAC8AF3701B}" type="datetime1">
              <a:rPr lang="en-US" altLang="en-US" smtClean="0"/>
              <a:t>9/13/2026</a:t>
            </a:fld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F3FEF4-6D01-406D-866B-1FF6490A13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6395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AA087-A1EE-41FD-B370-F206BAC3C84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57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2237"/>
            <a:ext cx="8534400" cy="944563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65623-3D9F-4C8E-8347-9EE99574A4C0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305050" cy="365125"/>
          </a:xfrm>
        </p:spPr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533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C605-27CD-42F6-8D1B-EEDAA23B1807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007ED-9FB1-47DD-9C4C-DF7B7428018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6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6279-11EB-4EC0-81D8-CADB461DE832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588FB5-C8AF-4E74-9400-4A37AA1776A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06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CDD23-8AC6-444C-845D-51E6EA828DE5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529110-A39F-4C35-A20F-B83C958DAEB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76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F500-6600-4FA3-92F8-5F574BCD9518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81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1C15C-FF0A-4935-8972-7B9653A5BC6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85E2A2-D7DB-4741-BAF3-CC754E71F2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89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6E5C5-35BD-4CAC-B67A-25EEA4959F8C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0073A5-873D-4D61-9F56-6A76747B17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220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441C1-8A98-41DE-91D3-51374F2A05A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D6182E-6C55-48CF-9778-DD16AF2DF9D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48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2F6A-6F65-4F75-B117-6CDC823FEFF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E41C2E-5122-41F2-A0F9-DA40AF482B0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707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B5C91A-1B1E-424D-A42A-E0AC04C12A5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4E2C02D-93E2-41A7-B482-0025CC716D91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2181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0F2FC8-8EAE-4DCB-9BEF-B9E68CE2F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092FC-5F14-4A93-901B-59C9219C5347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2A029-954E-4293-90E4-9E49E7F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9174A9-7070-4F9E-92AF-8617F8D4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901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5A894-5F4D-41FA-9AF5-085E2AE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B550-5579-4FDE-B80D-C87D1B53BEDA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14A07-AA32-47EB-B839-0B9296480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3A75-743E-48E5-BF17-D51891F0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70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6A8C8D-DCAC-48E8-B44C-1856BA32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192A3-655E-4370-9F5A-AA739C0E2BFB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ED1D6-4D09-4FB5-8D1F-13867A55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5AC2A6-B44A-4D71-809C-A2173B10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41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83257-AC3A-41AF-A8B5-A27C8A411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365F80-8A1B-420F-B7C8-B42508C9D883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F82D5-B86E-45CF-9FBF-19090919D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34E9-163F-46B3-A0E6-2CB14ECDA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649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E734-5704-4E85-A3DF-31A03E34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A82E2-2802-4ADD-86C2-25C78D06778B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E4103-BB27-44AD-911F-09DE02E43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C0245-09B3-4832-8738-2CD52D2F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645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8F09A-8592-4BDE-ADDA-688B6580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90C60-B63B-4D99-913C-93AEF6B23AB4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52FDA-E238-4433-BB18-6FECA168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3B7A5C-5019-4856-842E-973AE681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63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10FCA-6BEB-450B-8D71-DBD3FF32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DC2324-A4ED-4FC5-918E-A3442C9D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03463-B752-4946-BC5A-92C7A5E16A3D}" type="datetime1">
              <a:rPr lang="en-US" smtClean="0"/>
              <a:t>9/13/2026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25BB10-F15D-4F22-B3CC-E61B4CC9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B2B533-CBDD-4A44-9E4B-28865F2B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253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2C1507-D766-4753-9928-5139C79D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CC44A-0055-4A82-A12D-220EE0E7614B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5B5EA-808E-4A1C-9450-33374F7A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A3B2-DD1E-4AC6-97D5-35B86031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7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EB9A-FA89-481E-B03C-21809111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BE85A-8040-4C52-95C3-C488AA4019E3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67F7-B81F-448E-8FE3-7CE1FFC5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84D60-FB76-464A-A1B4-26E2455A8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713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E036D-6CA9-4752-878A-96D1C137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1320D-B806-4FBA-BDD5-4A0E7F9A718F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26CC8-6B90-4954-8A37-08261E5F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6F86F-CE41-48A4-B0DC-E103A94F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494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5CA6E-6066-412E-AA71-2B40AEB5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46C1-8A14-4185-A73B-8C1522DED4F5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8E847-C332-4DF5-8E47-D083F907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E8A3-344B-40B9-B94C-0CD705527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456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>
            <a:lvl1pPr>
              <a:defRPr sz="40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C86AD-207A-49B3-8B85-C20B3E1D14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12352-2C1C-4D23-8513-989FBB4A2D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3942078-8D69-4F5F-996A-FE6AF4A8365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2BEA7-CAC5-4B44-BFE2-44C65C4F93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35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F98345-2B8D-48B6-9E15-BFA1941093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20529-A973-4AF3-94BB-435B41C9BA10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1737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2CCC0-2233-4D49-B90B-9270579AA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85108-AB35-4433-8F19-4A27CCF14BF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BBD59-BBFC-42FB-92B6-E9A5A5F224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77799-04F8-4ED9-91C5-6AEAB73A20C4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EF2E5-B203-4790-BCB1-4BA8A888B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35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noFill/>
        </p:spPr>
        <p:txBody>
          <a:bodyPr>
            <a:normAutofit/>
          </a:bodyPr>
          <a:lstStyle/>
          <a:p>
            <a:r>
              <a:rPr lang="en-US" altLang="en-US"/>
              <a:t>UNIX C++ Programming Review</a:t>
            </a:r>
            <a:endParaRPr lang="en-US" altLang="en-US" sz="490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/>
          <a:p>
            <a:r>
              <a:rPr lang="en-US" altLang="en-US" sz="2000"/>
              <a:t>School of Information and Communication Technology,</a:t>
            </a:r>
          </a:p>
          <a:p>
            <a:r>
              <a:rPr lang="en-US" altLang="en-US" sz="2000"/>
              <a:t>Hanoi University of Science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A4A4-2AF9-4A12-AC06-FCF07218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3502-D7A3-47B3-A036-D4374E56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[1]	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W.Richard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Stevens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Unix Network Programming Vol.1, 3rd Ed.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Prentice 	Hall.</a:t>
            </a:r>
          </a:p>
          <a:p>
            <a:pPr marL="0" indent="0" algn="jus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[2]	Keir Davis, John W. Turner, and Nathan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Yocom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The Definitive Guide to 	Linux Network Programming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Apress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[3]	Michael </a:t>
            </a:r>
            <a:r>
              <a:rPr lang="en-US" sz="18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Donahoo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, Kenneth Calvert, </a:t>
            </a:r>
            <a:r>
              <a:rPr lang="en-US" sz="1800" i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TCP/IP Sockets in C: Practical Guide 	for Programmers,</a:t>
            </a:r>
            <a:r>
              <a:rPr lang="en-US" sz="18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Elsevier.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E4826-737C-43AA-A004-2EA0BF8E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186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322F-2209-4FED-9D04-5BF2B080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9E7-CB67-4E91-8653-4E4B45083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Creating, Compiling and Running Your Program</a:t>
            </a:r>
          </a:p>
          <a:p>
            <a:r>
              <a:rPr lang="en-US"/>
              <a:t>C/C++ Basics</a:t>
            </a:r>
          </a:p>
          <a:p>
            <a:r>
              <a:rPr lang="en-US"/>
              <a:t>C/C++ Advances</a:t>
            </a:r>
          </a:p>
          <a:p>
            <a:r>
              <a:rPr lang="en-US"/>
              <a:t>Input and Output</a:t>
            </a:r>
          </a:p>
          <a:p>
            <a:r>
              <a:rPr lang="en-US"/>
              <a:t>String Handling</a:t>
            </a:r>
          </a:p>
          <a:p>
            <a:r>
              <a:rPr lang="en-US"/>
              <a:t>File Access and Directory System Calls</a:t>
            </a:r>
          </a:p>
          <a:p>
            <a:r>
              <a:rPr lang="en-US"/>
              <a:t>Process Control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1BF47-FB3B-4AF9-816B-0D05972A5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8129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2B2D-9665-4212-87AC-78F71111D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Creating, Compiling and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049F-4B11-4CE9-9033-4ED1519B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1"/>
            <a:ext cx="8153400" cy="1676400"/>
          </a:xfrm>
        </p:spPr>
        <p:txBody>
          <a:bodyPr/>
          <a:lstStyle/>
          <a:p>
            <a:r>
              <a:rPr lang="en-US"/>
              <a:t>There are a number of compilers</a:t>
            </a:r>
          </a:p>
          <a:p>
            <a:pPr lvl="1"/>
            <a:r>
              <a:rPr lang="en-US"/>
              <a:t>cc (Sun Solaris)</a:t>
            </a:r>
          </a:p>
          <a:p>
            <a:pPr lvl="1"/>
            <a:r>
              <a:rPr lang="en-US"/>
              <a:t>bcc (Borland)</a:t>
            </a:r>
          </a:p>
          <a:p>
            <a:pPr lvl="1"/>
            <a:r>
              <a:rPr lang="en-US" err="1"/>
              <a:t>gcc</a:t>
            </a:r>
            <a:r>
              <a:rPr lang="en-US"/>
              <a:t> 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2B7C4-C3D7-4186-AEB0-1B7DE394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362" name="Picture 361">
            <a:extLst>
              <a:ext uri="{FF2B5EF4-FFF2-40B4-BE49-F238E27FC236}">
                <a16:creationId xmlns:a16="http://schemas.microsoft.com/office/drawing/2014/main" id="{F1AD4451-87A0-4674-834B-E54400879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02" y="2514600"/>
            <a:ext cx="3553395" cy="1676400"/>
          </a:xfrm>
          <a:prstGeom prst="rect">
            <a:avLst/>
          </a:prstGeom>
        </p:spPr>
      </p:pic>
      <p:sp>
        <p:nvSpPr>
          <p:cNvPr id="363" name="Content Placeholder 2">
            <a:extLst>
              <a:ext uri="{FF2B5EF4-FFF2-40B4-BE49-F238E27FC236}">
                <a16:creationId xmlns:a16="http://schemas.microsoft.com/office/drawing/2014/main" id="{1B107B1A-38EB-4344-B923-E3F6DFD61922}"/>
              </a:ext>
            </a:extLst>
          </p:cNvPr>
          <p:cNvSpPr txBox="1">
            <a:spLocks/>
          </p:cNvSpPr>
          <p:nvPr/>
        </p:nvSpPr>
        <p:spPr>
          <a:xfrm>
            <a:off x="228600" y="4191000"/>
            <a:ext cx="8153400" cy="196751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Simple compilation command</a:t>
            </a:r>
          </a:p>
          <a:p>
            <a:pPr marL="0" indent="0">
              <a:buNone/>
            </a:pPr>
            <a:r>
              <a:rPr lang="en-US">
                <a:latin typeface="Arial"/>
                <a:cs typeface="Arial"/>
              </a:rPr>
              <a:t>	g++ </a:t>
            </a:r>
            <a:r>
              <a:rPr lang="en-US" err="1">
                <a:latin typeface="Arial"/>
                <a:cs typeface="Arial"/>
              </a:rPr>
              <a:t>hello.C</a:t>
            </a:r>
            <a:r>
              <a:rPr lang="en-US">
                <a:latin typeface="Arial"/>
                <a:cs typeface="Arial"/>
              </a:rPr>
              <a:t> -o hello</a:t>
            </a:r>
            <a:endParaRPr lang="en-US">
              <a:cs typeface="Arial"/>
            </a:endParaRPr>
          </a:p>
          <a:p>
            <a:r>
              <a:rPr lang="en-US">
                <a:latin typeface="Arial"/>
                <a:cs typeface="Arial"/>
              </a:rPr>
              <a:t>Compile with debug (gdb) option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pl-PL"/>
              <a:t>g++ -g myprog.C -o myprog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8313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470E-BB06-4747-B6D0-68E59A8D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Creating, Compiling and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C1482-9A28-4116-A668-7229BFC1B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Compiling multiple source files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b="1"/>
              <a:t>g++ file1.C file2.C -o </a:t>
            </a:r>
            <a:r>
              <a:rPr lang="en-US" b="1" err="1"/>
              <a:t>myprog</a:t>
            </a:r>
            <a:r>
              <a:rPr lang="en-US"/>
              <a:t>		</a:t>
            </a:r>
          </a:p>
          <a:p>
            <a:pPr marL="0" indent="0">
              <a:buNone/>
            </a:pPr>
            <a:r>
              <a:rPr lang="en-US"/>
              <a:t>	g++ -c file1.C</a:t>
            </a:r>
          </a:p>
          <a:p>
            <a:pPr marL="0" indent="0">
              <a:buNone/>
            </a:pPr>
            <a:r>
              <a:rPr lang="en-US"/>
              <a:t>  	g++ -c file2.C</a:t>
            </a:r>
          </a:p>
          <a:p>
            <a:pPr marL="0" indent="0">
              <a:buNone/>
            </a:pPr>
            <a:r>
              <a:rPr lang="en-US"/>
              <a:t>  	g++ file1.o file2.o -o </a:t>
            </a:r>
            <a:r>
              <a:rPr lang="en-US" err="1"/>
              <a:t>myprog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9C55D-179A-4931-B6F3-FA39F846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996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EFCC-1EAE-4BDA-838D-4EB7A06EF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Creating, Compiling and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A33C-C72D-4C30-B903-AF16C8B1C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Useful options</a:t>
            </a:r>
          </a:p>
          <a:p>
            <a:pPr lvl="1"/>
            <a:r>
              <a:rPr lang="en-US"/>
              <a:t>-c: suppress linking, produce object files only</a:t>
            </a:r>
          </a:p>
          <a:p>
            <a:pPr lvl="1"/>
            <a:r>
              <a:rPr lang="en-US"/>
              <a:t>-l&lt;lib&gt;: link with library </a:t>
            </a:r>
          </a:p>
          <a:p>
            <a:pPr marL="914400" lvl="2" indent="0">
              <a:buNone/>
            </a:pPr>
            <a:r>
              <a:rPr lang="en-US" sz="2400"/>
              <a:t>cc </a:t>
            </a:r>
            <a:r>
              <a:rPr lang="en-US" sz="2400" err="1"/>
              <a:t>calc.c</a:t>
            </a:r>
            <a:r>
              <a:rPr lang="en-US" sz="2400"/>
              <a:t> -o calc –</a:t>
            </a:r>
            <a:r>
              <a:rPr lang="en-US" sz="2400" err="1"/>
              <a:t>lm</a:t>
            </a:r>
            <a:endParaRPr lang="en-US" sz="2400"/>
          </a:p>
          <a:p>
            <a:pPr lvl="1"/>
            <a:r>
              <a:rPr lang="en-US"/>
              <a:t>-L&lt;</a:t>
            </a:r>
            <a:r>
              <a:rPr lang="en-US" err="1"/>
              <a:t>dir</a:t>
            </a:r>
            <a:r>
              <a:rPr lang="en-US"/>
              <a:t>&gt;: add directory to the library searching path</a:t>
            </a:r>
          </a:p>
          <a:p>
            <a:pPr marL="457200" lvl="1" indent="0">
              <a:buNone/>
            </a:pPr>
            <a:r>
              <a:rPr lang="en-US"/>
              <a:t>	cc </a:t>
            </a:r>
            <a:r>
              <a:rPr lang="en-US" err="1"/>
              <a:t>prog.c</a:t>
            </a:r>
            <a:r>
              <a:rPr lang="en-US"/>
              <a:t> -L/home/</a:t>
            </a:r>
            <a:r>
              <a:rPr lang="en-US" err="1"/>
              <a:t>myname</a:t>
            </a:r>
            <a:r>
              <a:rPr lang="en-US"/>
              <a:t>/</a:t>
            </a:r>
            <a:r>
              <a:rPr lang="en-US" err="1"/>
              <a:t>mylibs</a:t>
            </a:r>
            <a:r>
              <a:rPr lang="en-US"/>
              <a:t> </a:t>
            </a:r>
            <a:r>
              <a:rPr lang="en-US" err="1"/>
              <a:t>mylib.a</a:t>
            </a:r>
            <a:endParaRPr lang="en-US"/>
          </a:p>
          <a:p>
            <a:pPr lvl="1"/>
            <a:r>
              <a:rPr lang="en-US"/>
              <a:t>-I&lt;</a:t>
            </a:r>
            <a:r>
              <a:rPr lang="en-US" err="1"/>
              <a:t>dir</a:t>
            </a:r>
            <a:r>
              <a:rPr lang="en-US"/>
              <a:t>&gt;: add directory to the header searching path</a:t>
            </a:r>
          </a:p>
          <a:p>
            <a:pPr lvl="1"/>
            <a:r>
              <a:rPr lang="en-US"/>
              <a:t>-g: enable debugging with </a:t>
            </a:r>
            <a:r>
              <a:rPr lang="en-US" err="1"/>
              <a:t>gdb</a:t>
            </a:r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3DCA4-6708-432A-A455-F1DA5E047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727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263F-ECA5-4959-8A68-60440143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FE23B-04C4-4C17-A4AA-4EB19D98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311BD1-3618-401A-9EF9-0E35C69A4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types</a:t>
            </a:r>
          </a:p>
          <a:p>
            <a:pPr lvl="1"/>
            <a:r>
              <a:rPr lang="en-US"/>
              <a:t>char, short, int, long</a:t>
            </a:r>
          </a:p>
          <a:p>
            <a:pPr lvl="1"/>
            <a:r>
              <a:rPr lang="en-US"/>
              <a:t>float, double</a:t>
            </a:r>
          </a:p>
          <a:p>
            <a:pPr lvl="1"/>
            <a:r>
              <a:rPr lang="en-US"/>
              <a:t>array</a:t>
            </a:r>
          </a:p>
          <a:p>
            <a:pPr lvl="1"/>
            <a:r>
              <a:rPr lang="en-US"/>
              <a:t>string </a:t>
            </a:r>
          </a:p>
          <a:p>
            <a:r>
              <a:rPr lang="en-US"/>
              <a:t>Conditions</a:t>
            </a:r>
          </a:p>
          <a:p>
            <a:pPr lvl="1"/>
            <a:r>
              <a:rPr lang="en-US"/>
              <a:t>if-else</a:t>
            </a:r>
          </a:p>
          <a:p>
            <a:pPr lvl="1"/>
            <a:r>
              <a:rPr lang="en-US"/>
              <a:t>switch-case</a:t>
            </a:r>
          </a:p>
          <a:p>
            <a:r>
              <a:rPr lang="en-US"/>
              <a:t>Looping and Iteration</a:t>
            </a:r>
          </a:p>
          <a:p>
            <a:pPr lvl="1"/>
            <a:r>
              <a:rPr lang="en-US"/>
              <a:t>for</a:t>
            </a:r>
          </a:p>
          <a:p>
            <a:pPr lvl="1"/>
            <a:r>
              <a:rPr lang="en-US"/>
              <a:t>while</a:t>
            </a:r>
          </a:p>
          <a:p>
            <a:pPr lvl="1"/>
            <a:r>
              <a:rPr lang="en-US"/>
              <a:t>do-while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7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663B-74F8-4CFC-ACD6-B25152A55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57728-5832-49E4-9FA7-714B70C2B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3352800" cy="5033963"/>
          </a:xfrm>
        </p:spPr>
        <p:txBody>
          <a:bodyPr/>
          <a:lstStyle/>
          <a:p>
            <a:r>
              <a:rPr lang="en-US"/>
              <a:t>Pointer</a:t>
            </a:r>
          </a:p>
          <a:p>
            <a:pPr lvl="1"/>
            <a:r>
              <a:rPr lang="en-US"/>
              <a:t>A variable which contains the address in memory of another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CBAB5-4352-4B88-A07F-F2BE1BD4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8FAB25A-3C14-4192-9A26-0F72F994F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2367" y="1317116"/>
            <a:ext cx="5486400" cy="485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06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95F6-5816-43DC-B454-0A3EB492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0B301-EC95-469F-B365-12139E995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 can do integer arithmetic on a pointer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2DA27-28C2-43D3-8736-BBC53CE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B2181F1-24ED-42BE-8F2E-C95F2019A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074" y="2078831"/>
            <a:ext cx="3729452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746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7EFF2-3FBD-4F06-88DD-A0ADED9A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Excercise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8D565-830D-4B21-ABF1-DD2AAD607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 a float number</a:t>
            </a:r>
          </a:p>
          <a:p>
            <a:r>
              <a:rPr lang="en-US"/>
              <a:t>Using pointer to access its memory and</a:t>
            </a:r>
          </a:p>
          <a:p>
            <a:r>
              <a:rPr lang="en-US"/>
              <a:t>Print 4 bytes representing the float number</a:t>
            </a:r>
          </a:p>
          <a:p>
            <a:r>
              <a:rPr lang="en-US"/>
              <a:t>Using a simple value (Ex: 1.5) to validate the IEEE 754 representation MANUALLY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00D0C-3C1A-41A5-BB60-56CC709C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86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1A96-8BB3-4372-8F3D-F97F4001B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5478-30C2-4E98-AA90-8F394C9A5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Pointers and arrays are very closely linked in C	</a:t>
            </a:r>
          </a:p>
          <a:p>
            <a:pPr marL="0" indent="0">
              <a:buNone/>
            </a:pPr>
            <a:r>
              <a:rPr lang="en-US"/>
              <a:t>	int a[10], x;</a:t>
            </a:r>
          </a:p>
          <a:p>
            <a:pPr marL="0" indent="0">
              <a:buNone/>
            </a:pPr>
            <a:r>
              <a:rPr lang="en-US"/>
              <a:t>	int *pa;</a:t>
            </a:r>
          </a:p>
          <a:p>
            <a:pPr marL="0" indent="0">
              <a:buNone/>
            </a:pPr>
            <a:r>
              <a:rPr lang="en-US"/>
              <a:t>	pa = &amp;a[0];  /* pa pointer to address of a[0] */</a:t>
            </a:r>
          </a:p>
          <a:p>
            <a:pPr marL="0" indent="0">
              <a:buNone/>
            </a:pPr>
            <a:r>
              <a:rPr lang="en-US"/>
              <a:t>	x = *pa;</a:t>
            </a:r>
          </a:p>
          <a:p>
            <a:pPr marL="0" indent="0">
              <a:buNone/>
            </a:pPr>
            <a:r>
              <a:rPr lang="en-US"/>
              <a:t>	/* x = contents of pa (a[0] in this case) */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B6813-505C-4A86-B104-5F058009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DB305A7A-9EBE-4838-AA0B-240293339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19600"/>
            <a:ext cx="5943600" cy="1287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537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77C68-569F-4B1A-8750-D59FDB7E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9A0C-21E8-416B-B4F5-298D774FF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Dynamic Memory Allocation</a:t>
            </a:r>
          </a:p>
          <a:p>
            <a:pPr lvl="1"/>
            <a:r>
              <a:rPr lang="en-US" err="1"/>
              <a:t>memset</a:t>
            </a:r>
            <a:r>
              <a:rPr lang="en-US"/>
              <a:t>(pointer, value, </a:t>
            </a:r>
            <a:r>
              <a:rPr lang="en-US" err="1"/>
              <a:t>bytecount</a:t>
            </a:r>
            <a:r>
              <a:rPr lang="en-US"/>
              <a:t>)</a:t>
            </a:r>
          </a:p>
          <a:p>
            <a:pPr lvl="1"/>
            <a:r>
              <a:rPr lang="en-US" err="1"/>
              <a:t>memcpy</a:t>
            </a:r>
            <a:r>
              <a:rPr lang="en-US"/>
              <a:t>(</a:t>
            </a:r>
            <a:r>
              <a:rPr lang="en-US" err="1"/>
              <a:t>dest_pointer</a:t>
            </a:r>
            <a:r>
              <a:rPr lang="en-US"/>
              <a:t>, </a:t>
            </a:r>
            <a:r>
              <a:rPr lang="en-US" err="1"/>
              <a:t>src_pointer</a:t>
            </a:r>
            <a:r>
              <a:rPr lang="en-US"/>
              <a:t>, </a:t>
            </a:r>
            <a:r>
              <a:rPr lang="en-US" err="1"/>
              <a:t>bytecount</a:t>
            </a:r>
            <a:r>
              <a:rPr lang="en-US"/>
              <a:t>);</a:t>
            </a:r>
          </a:p>
          <a:p>
            <a:pPr lvl="1"/>
            <a:r>
              <a:rPr lang="en-US"/>
              <a:t>void *malloc(</a:t>
            </a:r>
            <a:r>
              <a:rPr lang="en-US" err="1"/>
              <a:t>size_t</a:t>
            </a:r>
            <a:r>
              <a:rPr lang="en-US"/>
              <a:t> </a:t>
            </a:r>
            <a:r>
              <a:rPr lang="en-US" err="1"/>
              <a:t>number_of_bytes</a:t>
            </a:r>
            <a:r>
              <a:rPr lang="en-US"/>
              <a:t>)</a:t>
            </a:r>
          </a:p>
          <a:p>
            <a:pPr marL="914400" lvl="2" indent="0">
              <a:buNone/>
            </a:pPr>
            <a:r>
              <a:rPr lang="en-US"/>
              <a:t>int *</a:t>
            </a:r>
            <a:r>
              <a:rPr lang="en-US" err="1"/>
              <a:t>ip</a:t>
            </a:r>
            <a:r>
              <a:rPr lang="en-US"/>
              <a:t>;</a:t>
            </a:r>
          </a:p>
          <a:p>
            <a:pPr marL="914400" lvl="2" indent="0">
              <a:buNone/>
            </a:pPr>
            <a:r>
              <a:rPr lang="en-US" err="1"/>
              <a:t>ip</a:t>
            </a:r>
            <a:r>
              <a:rPr lang="en-US"/>
              <a:t> = (int *) malloc(100*</a:t>
            </a:r>
            <a:r>
              <a:rPr lang="en-US" err="1"/>
              <a:t>sizeof</a:t>
            </a:r>
            <a:r>
              <a:rPr lang="en-US"/>
              <a:t>(int));</a:t>
            </a:r>
          </a:p>
          <a:p>
            <a:pPr lvl="1"/>
            <a:r>
              <a:rPr lang="en-US"/>
              <a:t>void *</a:t>
            </a:r>
            <a:r>
              <a:rPr lang="en-US" err="1"/>
              <a:t>calloc</a:t>
            </a:r>
            <a:r>
              <a:rPr lang="en-US"/>
              <a:t>(</a:t>
            </a:r>
            <a:r>
              <a:rPr lang="en-US" err="1"/>
              <a:t>size_t</a:t>
            </a:r>
            <a:r>
              <a:rPr lang="en-US"/>
              <a:t> </a:t>
            </a:r>
            <a:r>
              <a:rPr lang="en-US" err="1"/>
              <a:t>num_elements</a:t>
            </a:r>
            <a:r>
              <a:rPr lang="en-US"/>
              <a:t>, </a:t>
            </a:r>
            <a:r>
              <a:rPr lang="en-US" err="1"/>
              <a:t>size_t</a:t>
            </a:r>
            <a:r>
              <a:rPr lang="en-US"/>
              <a:t> </a:t>
            </a:r>
            <a:r>
              <a:rPr lang="en-US" err="1"/>
              <a:t>element_size</a:t>
            </a:r>
            <a:r>
              <a:rPr lang="en-US"/>
              <a:t>}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 err="1"/>
              <a:t>ip</a:t>
            </a:r>
            <a:r>
              <a:rPr lang="en-US"/>
              <a:t> = (int *) </a:t>
            </a:r>
            <a:r>
              <a:rPr lang="en-US" err="1"/>
              <a:t>calloc</a:t>
            </a:r>
            <a:r>
              <a:rPr lang="en-US"/>
              <a:t>(100, </a:t>
            </a:r>
            <a:r>
              <a:rPr lang="en-US" err="1"/>
              <a:t>sizeof</a:t>
            </a:r>
            <a:r>
              <a:rPr lang="en-US"/>
              <a:t>(int));</a:t>
            </a:r>
          </a:p>
          <a:p>
            <a:pPr lvl="1"/>
            <a:r>
              <a:rPr lang="en-US"/>
              <a:t>void *</a:t>
            </a:r>
            <a:r>
              <a:rPr lang="en-US" err="1"/>
              <a:t>realloc</a:t>
            </a:r>
            <a:r>
              <a:rPr lang="en-US"/>
              <a:t>( void *</a:t>
            </a:r>
            <a:r>
              <a:rPr lang="en-US" err="1"/>
              <a:t>ptr</a:t>
            </a:r>
            <a:r>
              <a:rPr lang="en-US"/>
              <a:t>, </a:t>
            </a:r>
            <a:r>
              <a:rPr lang="en-US" err="1"/>
              <a:t>size_t</a:t>
            </a:r>
            <a:r>
              <a:rPr lang="en-US"/>
              <a:t> </a:t>
            </a:r>
            <a:r>
              <a:rPr lang="en-US" err="1"/>
              <a:t>new_size</a:t>
            </a:r>
            <a:r>
              <a:rPr lang="en-US"/>
              <a:t>);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 err="1"/>
              <a:t>ip</a:t>
            </a:r>
            <a:r>
              <a:rPr lang="en-US"/>
              <a:t> = (int*) </a:t>
            </a:r>
            <a:r>
              <a:rPr lang="en-US" err="1"/>
              <a:t>realloc</a:t>
            </a:r>
            <a:r>
              <a:rPr lang="en-US"/>
              <a:t>(</a:t>
            </a:r>
            <a:r>
              <a:rPr lang="en-US" err="1"/>
              <a:t>ip</a:t>
            </a:r>
            <a:r>
              <a:rPr lang="en-US"/>
              <a:t>, 101 * </a:t>
            </a:r>
            <a:r>
              <a:rPr lang="en-US" err="1"/>
              <a:t>sizeof</a:t>
            </a:r>
            <a:r>
              <a:rPr lang="en-US"/>
              <a:t>(int));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FE50C-F8DE-499E-BBB3-A677FE65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960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65E4D-6BDC-44C7-AB09-1E1BB85AD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Excercise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43A99-7B44-45D2-8366-0691EB2F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 a float from the stdin until a ZERO is entered</a:t>
            </a:r>
          </a:p>
          <a:p>
            <a:r>
              <a:rPr lang="en-US"/>
              <a:t>Store all the float values into a dynamically-allocated array (use malloc, </a:t>
            </a:r>
            <a:r>
              <a:rPr lang="en-US" err="1"/>
              <a:t>alloc</a:t>
            </a:r>
            <a:r>
              <a:rPr lang="en-US"/>
              <a:t>, </a:t>
            </a:r>
            <a:r>
              <a:rPr lang="en-US" err="1"/>
              <a:t>realloc</a:t>
            </a:r>
            <a:r>
              <a:rPr lang="en-US"/>
              <a:t>)</a:t>
            </a:r>
          </a:p>
          <a:p>
            <a:r>
              <a:rPr lang="en-US"/>
              <a:t>Print out the sum of those floats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48EA-549D-4D31-85F2-38C6C6B7E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5649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F243-4ACB-4D7B-ACE5-AFE9AC11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5CADE-4295-490B-9945-3CD40A6D1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Pointers to pointers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z="2400"/>
              <a:t>char </a:t>
            </a:r>
            <a:r>
              <a:rPr lang="en-US" sz="2400" err="1"/>
              <a:t>ch</a:t>
            </a:r>
            <a:r>
              <a:rPr lang="en-US" sz="2400"/>
              <a:t>;  /* a character */</a:t>
            </a:r>
          </a:p>
          <a:p>
            <a:pPr marL="0" indent="0">
              <a:buNone/>
            </a:pPr>
            <a:r>
              <a:rPr lang="en-US" sz="2400"/>
              <a:t>	char *</a:t>
            </a:r>
            <a:r>
              <a:rPr lang="en-US" sz="2400" err="1"/>
              <a:t>pch</a:t>
            </a:r>
            <a:r>
              <a:rPr lang="en-US" sz="2400"/>
              <a:t>; /* a pointer to a character */</a:t>
            </a:r>
          </a:p>
          <a:p>
            <a:pPr marL="0" indent="0">
              <a:buNone/>
            </a:pPr>
            <a:r>
              <a:rPr lang="en-US" sz="2400"/>
              <a:t>	char **</a:t>
            </a:r>
            <a:r>
              <a:rPr lang="en-US" sz="2400" err="1"/>
              <a:t>ppch</a:t>
            </a:r>
            <a:r>
              <a:rPr lang="en-US" sz="2400"/>
              <a:t>; /* a pointer to a pointer to a character */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400"/>
          </a:p>
          <a:p>
            <a:r>
              <a:rPr lang="en-US" sz="2400"/>
              <a:t>An example of pointers to pointers is in the main()</a:t>
            </a:r>
          </a:p>
          <a:p>
            <a:pPr marL="0" indent="0">
              <a:buNone/>
            </a:pPr>
            <a:r>
              <a:rPr lang="en-US" sz="2400"/>
              <a:t>	int main (int </a:t>
            </a:r>
            <a:r>
              <a:rPr lang="en-US" sz="2400" err="1"/>
              <a:t>argc</a:t>
            </a:r>
            <a:r>
              <a:rPr lang="en-US" sz="2400"/>
              <a:t>, </a:t>
            </a:r>
            <a:r>
              <a:rPr lang="en-US" sz="2400" b="1"/>
              <a:t>char **</a:t>
            </a:r>
            <a:r>
              <a:rPr lang="en-US" sz="2400" b="1" err="1"/>
              <a:t>argv</a:t>
            </a:r>
            <a:r>
              <a:rPr lang="en-US" sz="240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D49EB-DE2C-4612-A6F7-C901A497A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FD098A5-0433-43BF-AA8D-8EAFAB390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76600"/>
            <a:ext cx="4429128" cy="1107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07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DCB9-6F18-4563-B4E5-BE85062BB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C/C++ Advances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51FF4-D7D1-439A-8361-B2B34C01F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Pointer to functions</a:t>
            </a:r>
          </a:p>
          <a:p>
            <a:pPr lvl="1"/>
            <a:r>
              <a:rPr lang="en-US"/>
              <a:t>Store the address of a function in a pointer</a:t>
            </a:r>
          </a:p>
          <a:p>
            <a:pPr lvl="1"/>
            <a:r>
              <a:rPr lang="en-US"/>
              <a:t>Passing and calling function using variables</a:t>
            </a:r>
          </a:p>
          <a:p>
            <a:pPr lvl="1"/>
            <a:r>
              <a:rPr lang="en-US"/>
              <a:t>Very useful to provide call-back mechanism in many application</a:t>
            </a:r>
          </a:p>
          <a:p>
            <a:pPr marL="457200" lvl="1" indent="0">
              <a:buNone/>
            </a:pPr>
            <a:endParaRPr lang="en-US" sz="1600"/>
          </a:p>
          <a:p>
            <a:pPr marL="457200" lvl="1" indent="0">
              <a:buNone/>
            </a:pPr>
            <a:r>
              <a:rPr lang="en-US" sz="1600"/>
              <a:t>typedef void (*</a:t>
            </a:r>
            <a:r>
              <a:rPr lang="en-US" sz="1600" err="1"/>
              <a:t>printer_t</a:t>
            </a:r>
            <a:r>
              <a:rPr lang="en-US" sz="1600"/>
              <a:t>)(int);</a:t>
            </a:r>
          </a:p>
          <a:p>
            <a:pPr marL="457200" lvl="1" indent="0">
              <a:buNone/>
            </a:pPr>
            <a:r>
              <a:rPr lang="en-US" sz="1600"/>
              <a:t>void </a:t>
            </a:r>
            <a:r>
              <a:rPr lang="en-US" sz="1600" err="1"/>
              <a:t>print_to_n</a:t>
            </a:r>
            <a:r>
              <a:rPr lang="en-US" sz="1600"/>
              <a:t>(int n)</a:t>
            </a:r>
          </a:p>
          <a:p>
            <a:pPr marL="457200" lvl="1" indent="0">
              <a:buNone/>
            </a:pPr>
            <a:r>
              <a:rPr lang="en-US" sz="1600"/>
              <a:t>{</a:t>
            </a:r>
          </a:p>
          <a:p>
            <a:pPr marL="457200" lvl="1" indent="0">
              <a:buNone/>
            </a:pPr>
            <a:r>
              <a:rPr lang="en-US" sz="1600"/>
              <a:t>    	for (int </a:t>
            </a:r>
            <a:r>
              <a:rPr lang="en-US" sz="1600" err="1"/>
              <a:t>i</a:t>
            </a:r>
            <a:r>
              <a:rPr lang="en-US" sz="1600"/>
              <a:t> = 1; </a:t>
            </a:r>
            <a:r>
              <a:rPr lang="en-US" sz="1600" err="1"/>
              <a:t>i</a:t>
            </a:r>
            <a:r>
              <a:rPr lang="en-US" sz="1600"/>
              <a:t> &lt;= n; ++</a:t>
            </a:r>
            <a:r>
              <a:rPr lang="en-US" sz="1600" err="1"/>
              <a:t>i</a:t>
            </a:r>
            <a:r>
              <a:rPr lang="en-US" sz="1600"/>
              <a:t>) </a:t>
            </a:r>
            <a:r>
              <a:rPr lang="en-US" sz="1600" err="1"/>
              <a:t>printf</a:t>
            </a:r>
            <a:r>
              <a:rPr lang="en-US" sz="1600"/>
              <a:t>("%d\n", </a:t>
            </a:r>
            <a:r>
              <a:rPr lang="en-US" sz="1600" err="1"/>
              <a:t>i</a:t>
            </a:r>
            <a:r>
              <a:rPr lang="en-US" sz="1600"/>
              <a:t>);</a:t>
            </a:r>
          </a:p>
          <a:p>
            <a:pPr marL="457200" lvl="1" indent="0">
              <a:buNone/>
            </a:pPr>
            <a:r>
              <a:rPr lang="en-US" sz="1600"/>
              <a:t>}</a:t>
            </a:r>
          </a:p>
          <a:p>
            <a:pPr marL="457200" lvl="1" indent="0">
              <a:buNone/>
            </a:pPr>
            <a:r>
              <a:rPr lang="en-US" sz="1600" err="1"/>
              <a:t>printer_t</a:t>
            </a:r>
            <a:r>
              <a:rPr lang="en-US" sz="1600"/>
              <a:t> p = &amp;</a:t>
            </a:r>
            <a:r>
              <a:rPr lang="en-US" sz="1600" err="1"/>
              <a:t>print_to_n</a:t>
            </a:r>
            <a:r>
              <a:rPr lang="en-US" sz="1600"/>
              <a:t>;</a:t>
            </a:r>
          </a:p>
          <a:p>
            <a:pPr marL="457200" lvl="1" indent="0">
              <a:buNone/>
            </a:pPr>
            <a:r>
              <a:rPr lang="en-US" sz="1600"/>
              <a:t>p(5); // Prints 1 2 3 4 5 on separate 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09E0D-637B-49E0-B24B-EE492D3D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205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2897-7D5E-426B-A337-8C688BDC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E932B-028D-4F03-BEA7-28C06E8B4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6580188" cy="50339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/>
              <a:t>#include &lt;</a:t>
            </a:r>
            <a:r>
              <a:rPr lang="en-US" err="1"/>
              <a:t>stdio.h</a:t>
            </a:r>
            <a:r>
              <a:rPr lang="en-US"/>
              <a:t>&gt;</a:t>
            </a:r>
          </a:p>
          <a:p>
            <a:pPr>
              <a:lnSpc>
                <a:spcPct val="120000"/>
              </a:lnSpc>
            </a:pPr>
            <a:r>
              <a:rPr lang="en-US"/>
              <a:t>Reporting Errors</a:t>
            </a:r>
          </a:p>
          <a:p>
            <a:pPr lvl="1">
              <a:lnSpc>
                <a:spcPct val="120000"/>
              </a:lnSpc>
            </a:pPr>
            <a:r>
              <a:rPr lang="en-US" err="1"/>
              <a:t>perror</a:t>
            </a:r>
            <a:r>
              <a:rPr lang="en-US"/>
              <a:t>()</a:t>
            </a:r>
          </a:p>
          <a:p>
            <a:pPr lvl="1">
              <a:lnSpc>
                <a:spcPct val="120000"/>
              </a:lnSpc>
            </a:pPr>
            <a:r>
              <a:rPr lang="en-US" err="1"/>
              <a:t>errno</a:t>
            </a:r>
            <a:endParaRPr lang="en-US"/>
          </a:p>
          <a:p>
            <a:pPr lvl="1">
              <a:lnSpc>
                <a:spcPct val="120000"/>
              </a:lnSpc>
            </a:pPr>
            <a:r>
              <a:rPr lang="en-US"/>
              <a:t>exit()	</a:t>
            </a:r>
          </a:p>
          <a:p>
            <a:pPr>
              <a:lnSpc>
                <a:spcPct val="120000"/>
              </a:lnSpc>
            </a:pPr>
            <a:r>
              <a:rPr lang="en-US"/>
              <a:t>Streams</a:t>
            </a:r>
          </a:p>
          <a:p>
            <a:pPr lvl="1">
              <a:lnSpc>
                <a:spcPct val="120000"/>
              </a:lnSpc>
            </a:pPr>
            <a:r>
              <a:rPr lang="en-US"/>
              <a:t>stdin</a:t>
            </a:r>
          </a:p>
          <a:p>
            <a:pPr lvl="1">
              <a:lnSpc>
                <a:spcPct val="120000"/>
              </a:lnSpc>
            </a:pPr>
            <a:r>
              <a:rPr lang="en-US" err="1"/>
              <a:t>stdout</a:t>
            </a:r>
            <a:endParaRPr lang="en-US"/>
          </a:p>
          <a:p>
            <a:pPr lvl="1">
              <a:lnSpc>
                <a:spcPct val="120000"/>
              </a:lnSpc>
            </a:pPr>
            <a:r>
              <a:rPr lang="en-US"/>
              <a:t>stderr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2C7D2-329D-46D3-BDBC-0C29E32C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0499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4678-43EF-4B7C-941B-ED1919E1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10C0-DA9B-41F1-8C8D-D1A4E79F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stdin and </a:t>
            </a:r>
            <a:r>
              <a:rPr lang="en-US" err="1"/>
              <a:t>stdout</a:t>
            </a:r>
            <a:r>
              <a:rPr lang="en-US"/>
              <a:t> can be used with files, programs, I/O devices such as keyboard, console, etc.</a:t>
            </a:r>
          </a:p>
          <a:p>
            <a:r>
              <a:rPr lang="en-US"/>
              <a:t>stderr always goes to the console or screen</a:t>
            </a:r>
          </a:p>
          <a:p>
            <a:r>
              <a:rPr lang="en-US"/>
              <a:t>The console is the default for </a:t>
            </a:r>
            <a:r>
              <a:rPr lang="en-US" err="1"/>
              <a:t>stdout</a:t>
            </a:r>
            <a:r>
              <a:rPr lang="en-US"/>
              <a:t> and </a:t>
            </a:r>
            <a:r>
              <a:rPr lang="en-US" err="1"/>
              <a:t>stder</a:t>
            </a:r>
            <a:r>
              <a:rPr lang="en-US"/>
              <a:t> </a:t>
            </a:r>
          </a:p>
          <a:p>
            <a:r>
              <a:rPr lang="en-US"/>
              <a:t>The keyboard is the default for stdin</a:t>
            </a:r>
          </a:p>
          <a:p>
            <a:r>
              <a:rPr lang="en-US"/>
              <a:t>Predefined stream are automatically open</a:t>
            </a:r>
          </a:p>
          <a:p>
            <a:r>
              <a:rPr lang="en-US"/>
              <a:t>Stream redirection (OS command line)</a:t>
            </a:r>
          </a:p>
          <a:p>
            <a:pPr lvl="1"/>
            <a:r>
              <a:rPr lang="en-US">
                <a:solidFill>
                  <a:srgbClr val="000000"/>
                </a:solidFill>
                <a:cs typeface="Arial" panose="020B0604020202020204" pitchFamily="34" charset="0"/>
              </a:rPr>
              <a:t>prog1</a:t>
            </a:r>
            <a:r>
              <a:rPr lang="en-US" b="0" i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 &gt; file1</a:t>
            </a:r>
            <a:r>
              <a:rPr lang="en-US">
                <a:solidFill>
                  <a:srgbClr val="000000"/>
                </a:solidFill>
                <a:cs typeface="Arial" panose="020B0604020202020204" pitchFamily="34" charset="0"/>
              </a:rPr>
              <a:t>: send output to a file</a:t>
            </a:r>
          </a:p>
          <a:p>
            <a:pPr lvl="1"/>
            <a:r>
              <a:rPr lang="en-US">
                <a:solidFill>
                  <a:srgbClr val="000000"/>
                </a:solidFill>
                <a:cs typeface="Arial" panose="020B0604020202020204" pitchFamily="34" charset="0"/>
              </a:rPr>
              <a:t>prog2</a:t>
            </a:r>
            <a:r>
              <a:rPr lang="en-US"/>
              <a:t> &lt; file2: input from a file</a:t>
            </a:r>
          </a:p>
          <a:p>
            <a:pPr lvl="1"/>
            <a:r>
              <a:rPr lang="en-US"/>
              <a:t>prog1 | prog2: pipe </a:t>
            </a:r>
            <a:r>
              <a:rPr lang="en-US" err="1"/>
              <a:t>stdout</a:t>
            </a:r>
            <a:r>
              <a:rPr lang="en-US"/>
              <a:t> of prog1 to stdin of prog2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3B39C-8447-4828-B282-5BEE85907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296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874C-2BC8-4DC9-AE04-866A695C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C64CE-6750-44CD-8DA9-22D1DADF4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4572000" cy="5033963"/>
          </a:xfrm>
        </p:spPr>
        <p:txBody>
          <a:bodyPr/>
          <a:lstStyle/>
          <a:p>
            <a:r>
              <a:rPr lang="en-US"/>
              <a:t>int </a:t>
            </a:r>
            <a:r>
              <a:rPr lang="en-US" err="1"/>
              <a:t>getchar</a:t>
            </a:r>
            <a:r>
              <a:rPr lang="en-US"/>
              <a:t>(void)</a:t>
            </a:r>
          </a:p>
          <a:p>
            <a:r>
              <a:rPr lang="en-US"/>
              <a:t>int </a:t>
            </a:r>
            <a:r>
              <a:rPr lang="en-US" err="1"/>
              <a:t>putchar</a:t>
            </a:r>
            <a:r>
              <a:rPr lang="en-US"/>
              <a:t>(char </a:t>
            </a:r>
            <a:r>
              <a:rPr lang="en-US" err="1"/>
              <a:t>ch</a:t>
            </a:r>
            <a:r>
              <a:rPr lang="en-US"/>
              <a:t>)</a:t>
            </a:r>
          </a:p>
          <a:p>
            <a:r>
              <a:rPr lang="en-US"/>
              <a:t>int </a:t>
            </a:r>
            <a:r>
              <a:rPr lang="en-US" err="1"/>
              <a:t>printf</a:t>
            </a:r>
            <a:r>
              <a:rPr lang="en-US"/>
              <a:t>(char *format, </a:t>
            </a:r>
            <a:r>
              <a:rPr lang="en-US" err="1"/>
              <a:t>arg</a:t>
            </a:r>
            <a:r>
              <a:rPr lang="en-US"/>
              <a:t> list ...)</a:t>
            </a:r>
          </a:p>
          <a:p>
            <a:r>
              <a:rPr lang="sv-SE"/>
              <a:t>int scanf(char *format, args....)</a:t>
            </a:r>
            <a:endParaRPr lang="en-US"/>
          </a:p>
          <a:p>
            <a:r>
              <a:rPr lang="en-US"/>
              <a:t>int </a:t>
            </a:r>
            <a:r>
              <a:rPr lang="en-US" err="1"/>
              <a:t>sprintf</a:t>
            </a:r>
            <a:r>
              <a:rPr lang="en-US"/>
              <a:t>(char *string, char *format, </a:t>
            </a:r>
            <a:r>
              <a:rPr lang="en-US" err="1"/>
              <a:t>args</a:t>
            </a:r>
            <a:r>
              <a:rPr lang="en-US"/>
              <a:t>..)</a:t>
            </a:r>
          </a:p>
          <a:p>
            <a:r>
              <a:rPr lang="en-US"/>
              <a:t>int </a:t>
            </a:r>
            <a:r>
              <a:rPr lang="en-US" err="1"/>
              <a:t>sscanf</a:t>
            </a:r>
            <a:r>
              <a:rPr lang="en-US"/>
              <a:t>(char *string, char *format, </a:t>
            </a:r>
            <a:r>
              <a:rPr lang="en-US" err="1"/>
              <a:t>args</a:t>
            </a:r>
            <a:r>
              <a:rPr lang="en-US"/>
              <a:t>..)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173D5-1786-4A66-87FA-22F3074A5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C80319-097C-4D04-BC4B-820E95896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66800"/>
            <a:ext cx="4028401" cy="462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43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06688-D0E1-462E-851C-CAFEA08C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5D038-87F7-47D5-9CCB-BC38B74EE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Files</a:t>
            </a:r>
          </a:p>
          <a:p>
            <a:pPr lvl="1"/>
            <a:r>
              <a:rPr lang="en-US"/>
              <a:t>FILE *</a:t>
            </a:r>
            <a:r>
              <a:rPr lang="en-US" err="1"/>
              <a:t>fopen</a:t>
            </a:r>
            <a:r>
              <a:rPr lang="en-US"/>
              <a:t>(char *name, char *mode)</a:t>
            </a:r>
          </a:p>
          <a:p>
            <a:pPr lvl="2"/>
            <a:r>
              <a:rPr lang="en-US"/>
              <a:t>Reading: mode = “rt”, “</a:t>
            </a:r>
            <a:r>
              <a:rPr lang="en-US" err="1"/>
              <a:t>rb</a:t>
            </a:r>
            <a:r>
              <a:rPr lang="en-US"/>
              <a:t>”</a:t>
            </a:r>
          </a:p>
          <a:p>
            <a:pPr lvl="2"/>
            <a:r>
              <a:rPr lang="en-US"/>
              <a:t>Writing: mode = “</a:t>
            </a:r>
            <a:r>
              <a:rPr lang="en-US" err="1"/>
              <a:t>wt</a:t>
            </a:r>
            <a:r>
              <a:rPr lang="en-US"/>
              <a:t>”, “</a:t>
            </a:r>
            <a:r>
              <a:rPr lang="en-US" err="1"/>
              <a:t>wb</a:t>
            </a:r>
            <a:r>
              <a:rPr lang="en-US"/>
              <a:t>”</a:t>
            </a:r>
          </a:p>
          <a:p>
            <a:pPr lvl="2"/>
            <a:r>
              <a:rPr lang="en-US"/>
              <a:t>Appending: mode = “at”, “ab”</a:t>
            </a:r>
          </a:p>
          <a:p>
            <a:pPr lvl="1"/>
            <a:r>
              <a:rPr lang="en-US"/>
              <a:t>int </a:t>
            </a:r>
            <a:r>
              <a:rPr lang="en-US" err="1"/>
              <a:t>fprintf</a:t>
            </a:r>
            <a:r>
              <a:rPr lang="en-US"/>
              <a:t>(FILE *stream, char *format, </a:t>
            </a:r>
            <a:r>
              <a:rPr lang="en-US" err="1"/>
              <a:t>args</a:t>
            </a:r>
            <a:r>
              <a:rPr lang="en-US"/>
              <a:t>..)</a:t>
            </a:r>
          </a:p>
          <a:p>
            <a:pPr lvl="1"/>
            <a:r>
              <a:rPr lang="en-US"/>
              <a:t>int </a:t>
            </a:r>
            <a:r>
              <a:rPr lang="en-US" err="1"/>
              <a:t>fscanf</a:t>
            </a:r>
            <a:r>
              <a:rPr lang="en-US"/>
              <a:t>(FILE *stream, char *format, </a:t>
            </a:r>
            <a:r>
              <a:rPr lang="en-US" err="1"/>
              <a:t>args</a:t>
            </a:r>
            <a:r>
              <a:rPr lang="en-US"/>
              <a:t>..)</a:t>
            </a:r>
          </a:p>
          <a:p>
            <a:pPr lvl="1"/>
            <a:r>
              <a:rPr lang="en-US" err="1"/>
              <a:t>fwrite</a:t>
            </a:r>
            <a:r>
              <a:rPr lang="en-US"/>
              <a:t>, </a:t>
            </a:r>
            <a:r>
              <a:rPr lang="en-US" err="1"/>
              <a:t>fread</a:t>
            </a:r>
            <a:endParaRPr lang="en-US"/>
          </a:p>
          <a:p>
            <a:pPr lvl="1"/>
            <a:r>
              <a:rPr lang="en-US"/>
              <a:t>int </a:t>
            </a:r>
            <a:r>
              <a:rPr lang="en-US" err="1"/>
              <a:t>getc</a:t>
            </a:r>
            <a:r>
              <a:rPr lang="en-US"/>
              <a:t>(FILE *stream)</a:t>
            </a:r>
          </a:p>
          <a:p>
            <a:pPr lvl="1"/>
            <a:r>
              <a:rPr lang="en-US"/>
              <a:t>int </a:t>
            </a:r>
            <a:r>
              <a:rPr lang="en-US" err="1"/>
              <a:t>fgetc</a:t>
            </a:r>
            <a:r>
              <a:rPr lang="en-US"/>
              <a:t>(FILE *stream)</a:t>
            </a:r>
          </a:p>
          <a:p>
            <a:pPr lvl="1"/>
            <a:r>
              <a:rPr lang="en-US"/>
              <a:t>int </a:t>
            </a:r>
            <a:r>
              <a:rPr lang="en-US" err="1"/>
              <a:t>putc</a:t>
            </a:r>
            <a:r>
              <a:rPr lang="en-US"/>
              <a:t>(char </a:t>
            </a:r>
            <a:r>
              <a:rPr lang="en-US" err="1"/>
              <a:t>ch</a:t>
            </a:r>
            <a:r>
              <a:rPr lang="en-US"/>
              <a:t>, FILE *s)</a:t>
            </a:r>
          </a:p>
          <a:p>
            <a:pPr lvl="1"/>
            <a:r>
              <a:rPr lang="en-US"/>
              <a:t>int </a:t>
            </a:r>
            <a:r>
              <a:rPr lang="en-US" err="1"/>
              <a:t>fputc</a:t>
            </a:r>
            <a:r>
              <a:rPr lang="en-US"/>
              <a:t>(char </a:t>
            </a:r>
            <a:r>
              <a:rPr lang="en-US" err="1"/>
              <a:t>ch</a:t>
            </a:r>
            <a:r>
              <a:rPr lang="en-US"/>
              <a:t>, FILE *s)</a:t>
            </a:r>
          </a:p>
          <a:p>
            <a:pPr lvl="1"/>
            <a:r>
              <a:rPr lang="en-US" err="1"/>
              <a:t>fflush</a:t>
            </a:r>
            <a:r>
              <a:rPr lang="en-US"/>
              <a:t>(FILE *stream)</a:t>
            </a:r>
          </a:p>
          <a:p>
            <a:pPr lvl="1"/>
            <a:r>
              <a:rPr lang="en-US" err="1"/>
              <a:t>fclose</a:t>
            </a:r>
            <a:r>
              <a:rPr lang="en-US"/>
              <a:t>(FILE *stream)</a:t>
            </a: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0867-4F85-439F-BDA0-56A7DDB92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6070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D5D6-C9B4-4C9D-B2B0-DBF1CA56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6B10-A297-4886-A1B9-3D16178EC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Stream Status Enquiries</a:t>
            </a:r>
          </a:p>
          <a:p>
            <a:pPr lvl="1"/>
            <a:r>
              <a:rPr lang="en-US"/>
              <a:t>int </a:t>
            </a:r>
            <a:r>
              <a:rPr lang="en-US" err="1"/>
              <a:t>feof</a:t>
            </a:r>
            <a:r>
              <a:rPr lang="en-US"/>
              <a:t>(FILE *stream);</a:t>
            </a:r>
          </a:p>
          <a:p>
            <a:pPr lvl="1"/>
            <a:r>
              <a:rPr lang="en-US"/>
              <a:t>int </a:t>
            </a:r>
            <a:r>
              <a:rPr lang="en-US" err="1"/>
              <a:t>ferror</a:t>
            </a:r>
            <a:r>
              <a:rPr lang="en-US"/>
              <a:t>(FILE *stream);</a:t>
            </a:r>
          </a:p>
          <a:p>
            <a:pPr lvl="1"/>
            <a:r>
              <a:rPr lang="en-US"/>
              <a:t>void </a:t>
            </a:r>
            <a:r>
              <a:rPr lang="en-US" err="1"/>
              <a:t>clearerr</a:t>
            </a:r>
            <a:r>
              <a:rPr lang="en-US"/>
              <a:t>(FILE *stream);</a:t>
            </a:r>
          </a:p>
          <a:p>
            <a:pPr lvl="1"/>
            <a:r>
              <a:rPr lang="en-US"/>
              <a:t>int </a:t>
            </a:r>
            <a:r>
              <a:rPr lang="en-US" err="1"/>
              <a:t>fileno</a:t>
            </a:r>
            <a:r>
              <a:rPr lang="en-US"/>
              <a:t>(FILE *stream);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1E9B4-7B50-4D54-8138-0CEFAF08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380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4C1E-3917-463C-92B1-6CF2165AB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and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B0CD7-FF78-4219-84C8-DF0E304D4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Low Level I/O</a:t>
            </a:r>
          </a:p>
          <a:p>
            <a:pPr lvl="1"/>
            <a:r>
              <a:rPr lang="en-US"/>
              <a:t>This form of I/O is UNBUFFERED</a:t>
            </a:r>
          </a:p>
          <a:p>
            <a:pPr lvl="1"/>
            <a:r>
              <a:rPr lang="en-US"/>
              <a:t>There are no formatting facilities</a:t>
            </a:r>
          </a:p>
          <a:p>
            <a:pPr lvl="1"/>
            <a:r>
              <a:rPr lang="en-US"/>
              <a:t>This means we are now using binary (and not text) files</a:t>
            </a:r>
          </a:p>
          <a:p>
            <a:r>
              <a:rPr lang="en-US"/>
              <a:t>int open(char *filename, int flag, int perms)</a:t>
            </a:r>
          </a:p>
          <a:p>
            <a:pPr lvl="1"/>
            <a:r>
              <a:rPr lang="en-US"/>
              <a:t>flag = </a:t>
            </a:r>
            <a:r>
              <a:rPr lang="pt-BR"/>
              <a:t>O_APPEND, O_CREAT, O_RDWR...</a:t>
            </a:r>
          </a:p>
          <a:p>
            <a:pPr lvl="1"/>
            <a:r>
              <a:rPr lang="en-US"/>
              <a:t>Perms = 0 for most applications</a:t>
            </a:r>
          </a:p>
          <a:p>
            <a:pPr lvl="1"/>
            <a:r>
              <a:rPr lang="en-US"/>
              <a:t>Return a file descriptor or -1 (failed)</a:t>
            </a:r>
          </a:p>
          <a:p>
            <a:r>
              <a:rPr lang="en-US"/>
              <a:t>int close(int handle) -- close a file</a:t>
            </a:r>
          </a:p>
          <a:p>
            <a:r>
              <a:rPr lang="en-US"/>
              <a:t>int read(int handle, char *buffer, unsigned length)</a:t>
            </a:r>
          </a:p>
          <a:p>
            <a:r>
              <a:rPr lang="en-US"/>
              <a:t>int write(int handle, char *buffer, unsigned length)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D85EE-7CEE-44A6-B65C-48FEFF14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380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56D2-E792-4A90-BE45-603B9CCB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DC84C-2E65-4444-9C27-77FF919A9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#include &lt;</a:t>
            </a:r>
            <a:r>
              <a:rPr lang="en-US" err="1"/>
              <a:t>string.h</a:t>
            </a:r>
            <a:r>
              <a:rPr lang="en-US"/>
              <a:t>&gt;</a:t>
            </a:r>
          </a:p>
          <a:p>
            <a:r>
              <a:rPr lang="en-US"/>
              <a:t>char *</a:t>
            </a:r>
            <a:r>
              <a:rPr lang="en-US" b="1" err="1"/>
              <a:t>stpcpy</a:t>
            </a:r>
            <a:r>
              <a:rPr lang="en-US"/>
              <a:t> (char *</a:t>
            </a:r>
            <a:r>
              <a:rPr lang="en-US" err="1"/>
              <a:t>dest,const</a:t>
            </a:r>
            <a:r>
              <a:rPr lang="en-US"/>
              <a:t> char *</a:t>
            </a:r>
            <a:r>
              <a:rPr lang="en-US" err="1"/>
              <a:t>src</a:t>
            </a:r>
            <a:r>
              <a:rPr lang="en-US"/>
              <a:t>) -- Copy one string into another.</a:t>
            </a:r>
          </a:p>
          <a:p>
            <a:r>
              <a:rPr lang="en-US"/>
              <a:t>int </a:t>
            </a:r>
            <a:r>
              <a:rPr lang="en-US" b="1" err="1"/>
              <a:t>strcmp</a:t>
            </a:r>
            <a:r>
              <a:rPr lang="en-US"/>
              <a:t>(char *string1,const char *string2) - Compare string1 and string2 to determine alphabetic order.</a:t>
            </a:r>
          </a:p>
          <a:p>
            <a:r>
              <a:rPr lang="en-US"/>
              <a:t>char *</a:t>
            </a:r>
            <a:r>
              <a:rPr lang="en-US" b="1" err="1"/>
              <a:t>strcpy</a:t>
            </a:r>
            <a:r>
              <a:rPr lang="en-US"/>
              <a:t>(char *string1,const char *string2) -- Copy string2 to </a:t>
            </a:r>
            <a:r>
              <a:rPr lang="en-US" err="1"/>
              <a:t>stringl</a:t>
            </a:r>
            <a:r>
              <a:rPr lang="en-US"/>
              <a:t>.</a:t>
            </a:r>
          </a:p>
          <a:p>
            <a:r>
              <a:rPr lang="en-US"/>
              <a:t>char *</a:t>
            </a:r>
            <a:r>
              <a:rPr lang="en-US" b="1" err="1"/>
              <a:t>strerror</a:t>
            </a:r>
            <a:r>
              <a:rPr lang="en-US"/>
              <a:t>(int </a:t>
            </a:r>
            <a:r>
              <a:rPr lang="en-US" err="1"/>
              <a:t>errnum</a:t>
            </a:r>
            <a:r>
              <a:rPr lang="en-US"/>
              <a:t>) -- Get error message corresponding to specified error number.</a:t>
            </a:r>
          </a:p>
          <a:p>
            <a:r>
              <a:rPr lang="en-US" err="1"/>
              <a:t>size_t</a:t>
            </a:r>
            <a:r>
              <a:rPr lang="en-US"/>
              <a:t> </a:t>
            </a:r>
            <a:r>
              <a:rPr lang="en-US" b="1" err="1"/>
              <a:t>strlen</a:t>
            </a:r>
            <a:r>
              <a:rPr lang="en-US"/>
              <a:t>(const char *string) -- Determine the length of a string.</a:t>
            </a:r>
          </a:p>
          <a:p>
            <a:r>
              <a:rPr lang="en-US"/>
              <a:t>char *</a:t>
            </a:r>
            <a:r>
              <a:rPr lang="en-US" b="1" err="1"/>
              <a:t>strncat</a:t>
            </a:r>
            <a:r>
              <a:rPr lang="en-US"/>
              <a:t>(char *string1, char *string2, </a:t>
            </a:r>
            <a:r>
              <a:rPr lang="en-US" err="1"/>
              <a:t>size_t</a:t>
            </a:r>
            <a:r>
              <a:rPr lang="en-US"/>
              <a:t> n) -- Append n characters from string2 to </a:t>
            </a:r>
            <a:r>
              <a:rPr lang="en-US" err="1"/>
              <a:t>stringl</a:t>
            </a:r>
            <a:r>
              <a:rPr lang="en-US"/>
              <a:t>.</a:t>
            </a:r>
          </a:p>
          <a:p>
            <a:r>
              <a:rPr lang="en-US"/>
              <a:t>int </a:t>
            </a:r>
            <a:r>
              <a:rPr lang="en-US" b="1" err="1"/>
              <a:t>strncmp</a:t>
            </a:r>
            <a:r>
              <a:rPr lang="en-US"/>
              <a:t>(char *string1, char *string2, </a:t>
            </a:r>
            <a:r>
              <a:rPr lang="en-US" err="1"/>
              <a:t>size_t</a:t>
            </a:r>
            <a:r>
              <a:rPr lang="en-US"/>
              <a:t> n) -- Compare first n characters of two strings.</a:t>
            </a:r>
          </a:p>
          <a:p>
            <a:r>
              <a:rPr lang="en-US"/>
              <a:t>char *</a:t>
            </a:r>
            <a:r>
              <a:rPr lang="en-US" b="1" err="1"/>
              <a:t>strncpy</a:t>
            </a:r>
            <a:r>
              <a:rPr lang="en-US"/>
              <a:t>(char *string1,const char *string2, </a:t>
            </a:r>
            <a:r>
              <a:rPr lang="en-US" err="1"/>
              <a:t>size_t</a:t>
            </a:r>
            <a:r>
              <a:rPr lang="en-US"/>
              <a:t> n) -- Copy first n characters of string2 to </a:t>
            </a:r>
            <a:r>
              <a:rPr lang="en-US" err="1"/>
              <a:t>stringl</a:t>
            </a:r>
            <a:r>
              <a:rPr lang="en-US"/>
              <a:t> .</a:t>
            </a:r>
          </a:p>
          <a:p>
            <a:r>
              <a:rPr lang="en-US"/>
              <a:t>int </a:t>
            </a:r>
            <a:r>
              <a:rPr lang="en-US" b="1" err="1"/>
              <a:t>strcasecmp</a:t>
            </a:r>
            <a:r>
              <a:rPr lang="en-US"/>
              <a:t>(const char *s1, const char *s2) -- case insensitive version of </a:t>
            </a:r>
            <a:r>
              <a:rPr lang="en-US" err="1"/>
              <a:t>strcmp</a:t>
            </a:r>
            <a:r>
              <a:rPr lang="en-US"/>
              <a:t>().</a:t>
            </a:r>
          </a:p>
          <a:p>
            <a:r>
              <a:rPr lang="en-US"/>
              <a:t>int </a:t>
            </a:r>
            <a:r>
              <a:rPr lang="en-US" b="1" err="1"/>
              <a:t>strncasecmp</a:t>
            </a:r>
            <a:r>
              <a:rPr lang="en-US"/>
              <a:t>(const char *s1, const char *s2, int n) -- case insensitive version of </a:t>
            </a:r>
            <a:r>
              <a:rPr lang="en-US" err="1"/>
              <a:t>strncmp</a:t>
            </a:r>
            <a:r>
              <a:rPr lang="en-US"/>
              <a:t>().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3A947-6363-4829-8609-A4843F56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86105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A9142-757E-4F9C-BF5A-76D675F3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B38AD-798D-49C3-9A2D-D11CA8C17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Searching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strchr</a:t>
            </a:r>
            <a:r>
              <a:rPr lang="en-US"/>
              <a:t>(const char *string, int c) -- Find first occurrence of character c in string.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strrchr</a:t>
            </a:r>
            <a:r>
              <a:rPr lang="en-US"/>
              <a:t>(const char *string, int c) -- Find last occurrence of character c in string.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strstr</a:t>
            </a:r>
            <a:r>
              <a:rPr lang="en-US"/>
              <a:t>(const char *s1, const char *s2) -- locates the first occurrence of the string s2 in string s1.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strpbrk</a:t>
            </a:r>
            <a:r>
              <a:rPr lang="en-US"/>
              <a:t>(const char *s1, const char *s2) -- returns a pointer to the first occurrence in string s1 of any character from string s2, or a null pointer if no character from s2 exists in s1</a:t>
            </a:r>
          </a:p>
          <a:p>
            <a:pPr lvl="1"/>
            <a:r>
              <a:rPr lang="en-US" err="1"/>
              <a:t>size_t</a:t>
            </a:r>
            <a:r>
              <a:rPr lang="en-US"/>
              <a:t> </a:t>
            </a:r>
            <a:r>
              <a:rPr lang="en-US" b="1" err="1"/>
              <a:t>strspn</a:t>
            </a:r>
            <a:r>
              <a:rPr lang="en-US"/>
              <a:t>(const char *s1, const char *s2) -- returns the number of characters at the </a:t>
            </a:r>
            <a:r>
              <a:rPr lang="en-US" err="1"/>
              <a:t>begining</a:t>
            </a:r>
            <a:r>
              <a:rPr lang="en-US"/>
              <a:t> of s1 that match s2.</a:t>
            </a:r>
          </a:p>
          <a:p>
            <a:pPr lvl="1"/>
            <a:r>
              <a:rPr lang="en-US" err="1"/>
              <a:t>size_t</a:t>
            </a:r>
            <a:r>
              <a:rPr lang="en-US"/>
              <a:t> </a:t>
            </a:r>
            <a:r>
              <a:rPr lang="en-US" b="1" err="1"/>
              <a:t>strcspn</a:t>
            </a:r>
            <a:r>
              <a:rPr lang="en-US"/>
              <a:t>(const char *s1, const char *s2) -- returns the number of characters at the </a:t>
            </a:r>
            <a:r>
              <a:rPr lang="en-US" err="1"/>
              <a:t>begining</a:t>
            </a:r>
            <a:r>
              <a:rPr lang="en-US"/>
              <a:t> of s1 that do not match s2.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strtok</a:t>
            </a:r>
            <a:r>
              <a:rPr lang="en-US"/>
              <a:t>(char *s1, const char *s2) -- break the string pointed to by s1 into a sequence of tokens, each of which is delimited by one or more characters from the string pointed to by s2.</a:t>
            </a:r>
          </a:p>
          <a:p>
            <a:pPr lvl="1"/>
            <a:r>
              <a:rPr lang="en-US"/>
              <a:t>char *</a:t>
            </a:r>
            <a:r>
              <a:rPr lang="en-US" b="1" err="1"/>
              <a:t>strtok_r</a:t>
            </a:r>
            <a:r>
              <a:rPr lang="en-US"/>
              <a:t>(char *s1, const char *s2, char **lasts) -- has the same functionality as </a:t>
            </a:r>
            <a:r>
              <a:rPr lang="en-US" err="1"/>
              <a:t>strtok</a:t>
            </a:r>
            <a:r>
              <a:rPr lang="en-US"/>
              <a:t>() except that a pointer to a string placeholder lasts must be supplied by the caller.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B06DE-8C79-4271-A7D3-D10CFB42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025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D422A-4580-4275-8DAE-C9C3395F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55897-9711-4890-860E-C69FBE658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void *</a:t>
            </a:r>
            <a:r>
              <a:rPr lang="en-US" b="1" err="1"/>
              <a:t>memchr</a:t>
            </a:r>
            <a:r>
              <a:rPr lang="en-US"/>
              <a:t> (void *s, int c, </a:t>
            </a:r>
            <a:r>
              <a:rPr lang="en-US" err="1"/>
              <a:t>size_t</a:t>
            </a:r>
            <a:r>
              <a:rPr lang="en-US"/>
              <a:t> n) -- Search for a character in a buffer .</a:t>
            </a:r>
          </a:p>
          <a:p>
            <a:r>
              <a:rPr lang="en-US"/>
              <a:t>int </a:t>
            </a:r>
            <a:r>
              <a:rPr lang="en-US" b="1" err="1"/>
              <a:t>memcmp</a:t>
            </a:r>
            <a:r>
              <a:rPr lang="en-US"/>
              <a:t> (void *s1, void *s2, </a:t>
            </a:r>
            <a:r>
              <a:rPr lang="en-US" err="1"/>
              <a:t>size_t</a:t>
            </a:r>
            <a:r>
              <a:rPr lang="en-US"/>
              <a:t> n) -- Compare two buffers.</a:t>
            </a:r>
          </a:p>
          <a:p>
            <a:r>
              <a:rPr lang="en-US"/>
              <a:t>void *</a:t>
            </a:r>
            <a:r>
              <a:rPr lang="en-US" b="1" err="1"/>
              <a:t>memcpy</a:t>
            </a:r>
            <a:r>
              <a:rPr lang="en-US"/>
              <a:t> (void *</a:t>
            </a:r>
            <a:r>
              <a:rPr lang="en-US" err="1"/>
              <a:t>dest</a:t>
            </a:r>
            <a:r>
              <a:rPr lang="en-US"/>
              <a:t>, void *</a:t>
            </a:r>
            <a:r>
              <a:rPr lang="en-US" err="1"/>
              <a:t>src</a:t>
            </a:r>
            <a:r>
              <a:rPr lang="en-US"/>
              <a:t>, </a:t>
            </a:r>
            <a:r>
              <a:rPr lang="en-US" err="1"/>
              <a:t>size_t</a:t>
            </a:r>
            <a:r>
              <a:rPr lang="en-US"/>
              <a:t> n) -- Copy one buffer into another .</a:t>
            </a:r>
          </a:p>
          <a:p>
            <a:r>
              <a:rPr lang="en-US"/>
              <a:t>void *</a:t>
            </a:r>
            <a:r>
              <a:rPr lang="en-US" b="1" err="1"/>
              <a:t>memmove</a:t>
            </a:r>
            <a:r>
              <a:rPr lang="en-US"/>
              <a:t> (void *</a:t>
            </a:r>
            <a:r>
              <a:rPr lang="en-US" err="1"/>
              <a:t>dest</a:t>
            </a:r>
            <a:r>
              <a:rPr lang="en-US"/>
              <a:t>, void *</a:t>
            </a:r>
            <a:r>
              <a:rPr lang="en-US" err="1"/>
              <a:t>src</a:t>
            </a:r>
            <a:r>
              <a:rPr lang="en-US"/>
              <a:t>, </a:t>
            </a:r>
            <a:r>
              <a:rPr lang="en-US" err="1"/>
              <a:t>size_t</a:t>
            </a:r>
            <a:r>
              <a:rPr lang="en-US"/>
              <a:t> n) -- Move a number of bytes from one buffer lo another.</a:t>
            </a:r>
          </a:p>
          <a:p>
            <a:r>
              <a:rPr lang="en-US"/>
              <a:t>void *</a:t>
            </a:r>
            <a:r>
              <a:rPr lang="en-US" b="1" err="1"/>
              <a:t>memset</a:t>
            </a:r>
            <a:r>
              <a:rPr lang="en-US"/>
              <a:t> (void *s, int c, </a:t>
            </a:r>
            <a:r>
              <a:rPr lang="en-US" err="1"/>
              <a:t>size_t</a:t>
            </a:r>
            <a:r>
              <a:rPr lang="en-US"/>
              <a:t> n) -- Set all bytes of a buffer to a given character.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F4A56-7BD0-429B-9303-D12B575F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1732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9C77-F675-42FD-A5C1-849AC2B7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File Access &amp; Directory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FC859-E423-435A-A004-04DE4876D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int </a:t>
            </a:r>
            <a:r>
              <a:rPr lang="en-US" b="1" err="1"/>
              <a:t>chdir</a:t>
            </a:r>
            <a:r>
              <a:rPr lang="en-US"/>
              <a:t>(char *path) -- changes directory to specified path string</a:t>
            </a:r>
          </a:p>
          <a:p>
            <a:r>
              <a:rPr lang="en-US"/>
              <a:t>char *</a:t>
            </a:r>
            <a:r>
              <a:rPr lang="en-US" b="1" err="1"/>
              <a:t>getwd</a:t>
            </a:r>
            <a:r>
              <a:rPr lang="en-US"/>
              <a:t>(char *path) -- get the full pathname of the current working directory</a:t>
            </a:r>
          </a:p>
          <a:p>
            <a:r>
              <a:rPr lang="en-US" err="1"/>
              <a:t>scandir</a:t>
            </a:r>
            <a:r>
              <a:rPr lang="en-US"/>
              <a:t>(char *</a:t>
            </a:r>
            <a:r>
              <a:rPr lang="en-US" err="1"/>
              <a:t>dirname</a:t>
            </a:r>
            <a:r>
              <a:rPr lang="en-US"/>
              <a:t>, struct </a:t>
            </a:r>
            <a:r>
              <a:rPr lang="en-US" err="1"/>
              <a:t>dirent</a:t>
            </a:r>
            <a:r>
              <a:rPr lang="en-US"/>
              <a:t> **</a:t>
            </a:r>
            <a:r>
              <a:rPr lang="en-US" err="1"/>
              <a:t>namelist</a:t>
            </a:r>
            <a:r>
              <a:rPr lang="en-US"/>
              <a:t>, NULL, NULL)</a:t>
            </a:r>
          </a:p>
          <a:p>
            <a:r>
              <a:rPr lang="en-US"/>
              <a:t>int access(char *path, int mode) -- determine accessibility of file, return 0 for success or -1 for failure. mode = R_OK, W_OK, X_OK, F_OK</a:t>
            </a:r>
          </a:p>
          <a:p>
            <a:r>
              <a:rPr lang="en-US"/>
              <a:t>int stat(char *path, struct stat *</a:t>
            </a:r>
            <a:r>
              <a:rPr lang="en-US" err="1"/>
              <a:t>buf</a:t>
            </a:r>
            <a:r>
              <a:rPr lang="en-US"/>
              <a:t>)</a:t>
            </a:r>
          </a:p>
          <a:p>
            <a:r>
              <a:rPr lang="en-US"/>
              <a:t>int </a:t>
            </a:r>
            <a:r>
              <a:rPr lang="en-US" err="1"/>
              <a:t>fstat</a:t>
            </a:r>
            <a:r>
              <a:rPr lang="en-US"/>
              <a:t>(int </a:t>
            </a:r>
            <a:r>
              <a:rPr lang="en-US" err="1"/>
              <a:t>fd</a:t>
            </a:r>
            <a:r>
              <a:rPr lang="en-US"/>
              <a:t>, struct stat *</a:t>
            </a:r>
            <a:r>
              <a:rPr lang="en-US" err="1"/>
              <a:t>buf</a:t>
            </a:r>
            <a:r>
              <a:rPr lang="en-US"/>
              <a:t>)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BD223-A6D3-4807-B1CA-B7B66829F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3598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A27E4-5F40-4F5C-B7AE-F5CB7730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File Access &amp; Directory System Calls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9D39BF-D753-4C56-82FF-FC4E76B72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066800"/>
            <a:ext cx="8639175" cy="50076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AFF39A-0FC2-48DA-8EE6-2B01A6A1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0838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D033-E1D4-48A9-BEC3-DB57BA7D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File Access &amp; Directory 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1701-D44E-4FC4-89D8-78229F68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 remove(const char *path);</a:t>
            </a:r>
          </a:p>
          <a:p>
            <a:r>
              <a:rPr lang="en-US"/>
              <a:t>int rename(const char *old, const char *new);</a:t>
            </a:r>
          </a:p>
          <a:p>
            <a:r>
              <a:rPr lang="en-US"/>
              <a:t>FILE *</a:t>
            </a:r>
            <a:r>
              <a:rPr lang="en-US" err="1"/>
              <a:t>tmpfile</a:t>
            </a:r>
            <a:r>
              <a:rPr lang="en-US"/>
              <a:t>(void) creates a temporary file and opens a corresponding stream. The file will automatically be deleted when all references to the file are closed.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DED35-D6C1-4C18-B9F7-8A72211E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4759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51D4-40CB-470E-8CDF-84EB9D44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BC3AE-37C6-4B41-B2FA-A3E73B579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process is basically a single running program</a:t>
            </a:r>
          </a:p>
          <a:p>
            <a:r>
              <a:rPr lang="en-US"/>
              <a:t>Running UNIX Commands from C/C++</a:t>
            </a:r>
          </a:p>
          <a:p>
            <a:pPr lvl="1"/>
            <a:r>
              <a:rPr lang="en-US"/>
              <a:t>int system(char *string)</a:t>
            </a:r>
          </a:p>
          <a:p>
            <a:pPr marL="457200" lvl="1" indent="0">
              <a:buNone/>
            </a:pPr>
            <a:r>
              <a:rPr lang="en-US"/>
              <a:t>main()</a:t>
            </a:r>
          </a:p>
          <a:p>
            <a:pPr marL="457200" lvl="1" indent="0">
              <a:buNone/>
            </a:pPr>
            <a:r>
              <a:rPr lang="en-US"/>
              <a:t>{ </a:t>
            </a:r>
          </a:p>
          <a:p>
            <a:pPr marL="457200" lvl="1" indent="0">
              <a:buNone/>
            </a:pPr>
            <a:r>
              <a:rPr lang="en-US"/>
              <a:t>	</a:t>
            </a:r>
            <a:r>
              <a:rPr lang="en-US" err="1"/>
              <a:t>printf</a:t>
            </a:r>
            <a:r>
              <a:rPr lang="en-US"/>
              <a:t>("Files in Directory are:\n");</a:t>
            </a:r>
          </a:p>
          <a:p>
            <a:pPr marL="457200" lvl="1" indent="0">
              <a:buNone/>
            </a:pPr>
            <a:r>
              <a:rPr lang="en-US"/>
              <a:t>	system("ls -l");</a:t>
            </a:r>
          </a:p>
          <a:p>
            <a:pPr marL="457200" lvl="1" indent="0">
              <a:buNone/>
            </a:pPr>
            <a:r>
              <a:rPr lang="en-US"/>
              <a:t>}</a:t>
            </a:r>
          </a:p>
          <a:p>
            <a:pPr lvl="1"/>
            <a:r>
              <a:rPr lang="en-US"/>
              <a:t>system is a call that is made up of 3 other system calls: </a:t>
            </a:r>
            <a:r>
              <a:rPr lang="en-US" err="1"/>
              <a:t>execl</a:t>
            </a:r>
            <a:r>
              <a:rPr lang="en-US"/>
              <a:t>(), wait() and fork()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99D23-2A27-49C6-B551-DE75F2CD7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5884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E61AE-5A2E-4A2D-8678-ACD879750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E040C-E4D8-4131-A7D2-944D01F18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Using system to </a:t>
            </a:r>
            <a:r>
              <a:rPr lang="en-US" err="1"/>
              <a:t>excute</a:t>
            </a:r>
            <a:r>
              <a:rPr lang="en-US"/>
              <a:t> “</a:t>
            </a:r>
            <a:r>
              <a:rPr lang="en-US" err="1"/>
              <a:t>ifconfig</a:t>
            </a:r>
            <a:r>
              <a:rPr lang="en-US"/>
              <a:t>” and display all the IPs of the </a:t>
            </a:r>
            <a:r>
              <a:rPr lang="en-US" err="1"/>
              <a:t>linux</a:t>
            </a:r>
            <a:r>
              <a:rPr lang="en-US"/>
              <a:t> machine</a:t>
            </a:r>
          </a:p>
          <a:p>
            <a:r>
              <a:rPr lang="en-US"/>
              <a:t>Using system to </a:t>
            </a:r>
            <a:r>
              <a:rPr lang="en-US" err="1"/>
              <a:t>excute</a:t>
            </a:r>
            <a:r>
              <a:rPr lang="en-US"/>
              <a:t> “ls –a –l” and display a list of file including names and sizes</a:t>
            </a:r>
          </a:p>
          <a:p>
            <a:r>
              <a:rPr lang="en-US"/>
              <a:t>Using </a:t>
            </a:r>
            <a:r>
              <a:rPr lang="en-US" b="1" err="1"/>
              <a:t>scandir</a:t>
            </a:r>
            <a:r>
              <a:rPr lang="en-US"/>
              <a:t> to build a list of sub folders and files. Display the result in html format like below:</a:t>
            </a:r>
          </a:p>
          <a:p>
            <a:pPr marL="457200" lvl="1" indent="0">
              <a:buNone/>
            </a:pPr>
            <a:r>
              <a:rPr lang="en-US"/>
              <a:t>	&lt;a </a:t>
            </a:r>
            <a:r>
              <a:rPr lang="en-US" err="1"/>
              <a:t>href</a:t>
            </a:r>
            <a:r>
              <a:rPr lang="en-US"/>
              <a:t> = “</a:t>
            </a:r>
            <a:r>
              <a:rPr lang="en-US" err="1"/>
              <a:t>FolderA</a:t>
            </a:r>
            <a:r>
              <a:rPr lang="en-US"/>
              <a:t>”&gt;</a:t>
            </a:r>
            <a:r>
              <a:rPr lang="en-US" b="1"/>
              <a:t>&lt;b&gt;</a:t>
            </a:r>
            <a:r>
              <a:rPr lang="en-US" b="1" err="1"/>
              <a:t>FolderA</a:t>
            </a:r>
            <a:r>
              <a:rPr lang="en-US" b="1"/>
              <a:t>&lt;/b&gt;</a:t>
            </a:r>
            <a:r>
              <a:rPr lang="en-US"/>
              <a:t>&lt;/a&gt;</a:t>
            </a:r>
          </a:p>
          <a:p>
            <a:pPr marL="457200" lvl="1" indent="0">
              <a:buNone/>
            </a:pPr>
            <a:r>
              <a:rPr lang="en-US"/>
              <a:t>	&lt;a </a:t>
            </a:r>
            <a:r>
              <a:rPr lang="en-US" err="1"/>
              <a:t>href</a:t>
            </a:r>
            <a:r>
              <a:rPr lang="en-US"/>
              <a:t> = “</a:t>
            </a:r>
            <a:r>
              <a:rPr lang="en-US" err="1"/>
              <a:t>FolderB</a:t>
            </a:r>
            <a:r>
              <a:rPr lang="en-US"/>
              <a:t>”&gt;</a:t>
            </a:r>
            <a:r>
              <a:rPr lang="en-US" b="1"/>
              <a:t>&lt;b&gt;</a:t>
            </a:r>
            <a:r>
              <a:rPr lang="en-US" b="1" err="1"/>
              <a:t>FolderB</a:t>
            </a:r>
            <a:r>
              <a:rPr lang="en-US" b="1"/>
              <a:t>&lt;/b&gt;</a:t>
            </a:r>
            <a:r>
              <a:rPr lang="en-US"/>
              <a:t>&lt;/a&gt;</a:t>
            </a:r>
          </a:p>
          <a:p>
            <a:pPr marL="457200" lvl="1" indent="0">
              <a:buNone/>
            </a:pPr>
            <a:r>
              <a:rPr lang="en-US" i="1"/>
              <a:t>	&lt;a </a:t>
            </a:r>
            <a:r>
              <a:rPr lang="en-US" i="1" err="1"/>
              <a:t>href</a:t>
            </a:r>
            <a:r>
              <a:rPr lang="en-US" i="1"/>
              <a:t> = “FileName1&gt;&lt;</a:t>
            </a:r>
            <a:r>
              <a:rPr lang="en-US" i="1" err="1"/>
              <a:t>i</a:t>
            </a:r>
            <a:r>
              <a:rPr lang="en-US" i="1"/>
              <a:t>&gt;FileName1&lt;/</a:t>
            </a:r>
            <a:r>
              <a:rPr lang="en-US" i="1" err="1"/>
              <a:t>i</a:t>
            </a:r>
            <a:r>
              <a:rPr lang="en-US" i="1"/>
              <a:t>&gt;&lt;/a&gt;</a:t>
            </a:r>
          </a:p>
          <a:p>
            <a:pPr marL="457200" lvl="1" indent="0">
              <a:buNone/>
            </a:pPr>
            <a:r>
              <a:rPr lang="en-US" i="1"/>
              <a:t>	&lt;a </a:t>
            </a:r>
            <a:r>
              <a:rPr lang="en-US" i="1" err="1"/>
              <a:t>href</a:t>
            </a:r>
            <a:r>
              <a:rPr lang="en-US" i="1"/>
              <a:t> = “FileName2&gt;&lt;</a:t>
            </a:r>
            <a:r>
              <a:rPr lang="en-US" i="1" err="1"/>
              <a:t>i</a:t>
            </a:r>
            <a:r>
              <a:rPr lang="en-US" i="1"/>
              <a:t>&gt;FileName2&lt;/</a:t>
            </a:r>
            <a:r>
              <a:rPr lang="en-US" i="1" err="1"/>
              <a:t>i</a:t>
            </a:r>
            <a:r>
              <a:rPr lang="en-US" i="1"/>
              <a:t>&gt;&lt;a/&gt;&lt;/html&gt;</a:t>
            </a:r>
          </a:p>
          <a:p>
            <a:r>
              <a:rPr lang="en-US"/>
              <a:t>Root Path: “/”</a:t>
            </a:r>
          </a:p>
          <a:p>
            <a:r>
              <a:rPr lang="en-US"/>
              <a:t>Wait for a text input, check if </a:t>
            </a:r>
          </a:p>
          <a:p>
            <a:pPr lvl="1"/>
            <a:r>
              <a:rPr lang="en-US"/>
              <a:t>It is a folder in the current path: go into the folder and list again</a:t>
            </a:r>
          </a:p>
          <a:p>
            <a:pPr lvl="1"/>
            <a:r>
              <a:rPr lang="en-US"/>
              <a:t>It is “..” go up (if the current folder is not the root) and list again</a:t>
            </a:r>
          </a:p>
          <a:p>
            <a:pPr marL="457200" lvl="1" indent="0">
              <a:buNone/>
            </a:pP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81550-4F2B-4695-A4B5-4E768716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2811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8377D-BDD5-40F2-9182-2F31BA33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3268E-58C7-4E00-9778-59A0B5B29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err="1"/>
              <a:t>execl</a:t>
            </a:r>
            <a:r>
              <a:rPr lang="en-US"/>
              <a:t>(): execute and leave</a:t>
            </a:r>
          </a:p>
          <a:p>
            <a:r>
              <a:rPr lang="en-US" err="1"/>
              <a:t>execl</a:t>
            </a:r>
            <a:r>
              <a:rPr lang="en-US"/>
              <a:t>(char *path, char *arg0,...,char *</a:t>
            </a:r>
            <a:r>
              <a:rPr lang="en-US" err="1"/>
              <a:t>argn</a:t>
            </a:r>
            <a:r>
              <a:rPr lang="en-US"/>
              <a:t>, 0)</a:t>
            </a:r>
          </a:p>
          <a:p>
            <a:pPr marL="0" indent="0">
              <a:buNone/>
            </a:pPr>
            <a:r>
              <a:rPr lang="en-US"/>
              <a:t>	main()</a:t>
            </a:r>
          </a:p>
          <a:p>
            <a:pPr marL="0" indent="0">
              <a:buNone/>
            </a:pPr>
            <a:r>
              <a:rPr lang="en-US"/>
              <a:t>	{ 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printf</a:t>
            </a:r>
            <a:r>
              <a:rPr lang="en-US"/>
              <a:t>("Files in Directory are:\n");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execl</a:t>
            </a:r>
            <a:r>
              <a:rPr lang="en-US"/>
              <a:t>("/bin/</a:t>
            </a:r>
            <a:r>
              <a:rPr lang="en-US" err="1"/>
              <a:t>ls","ls</a:t>
            </a:r>
            <a:r>
              <a:rPr lang="en-US"/>
              <a:t>", "-l",0);</a:t>
            </a:r>
          </a:p>
          <a:p>
            <a:pPr marL="0" indent="0">
              <a:buNone/>
            </a:pPr>
            <a:r>
              <a:rPr lang="en-US"/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00CB6-F22A-4C97-B575-813EC7F2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517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9756-5715-49F5-B43F-C7328DFA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76D14-353C-4A69-B22C-E1F09DEE8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/>
              <a:t>int fork() turns a single process into 2 identical processes, known as the parent and the child</a:t>
            </a:r>
          </a:p>
          <a:p>
            <a:r>
              <a:rPr lang="en-US"/>
              <a:t>The child process will have its own unique PID</a:t>
            </a:r>
          </a:p>
          <a:p>
            <a:pPr marL="0" indent="0">
              <a:buNone/>
            </a:pPr>
            <a:r>
              <a:rPr lang="en-US"/>
              <a:t>	main() </a:t>
            </a:r>
          </a:p>
          <a:p>
            <a:pPr marL="0" indent="0">
              <a:buNone/>
            </a:pPr>
            <a:r>
              <a:rPr lang="en-US"/>
              <a:t>	{ </a:t>
            </a:r>
          </a:p>
          <a:p>
            <a:pPr marL="0" indent="0">
              <a:buNone/>
            </a:pPr>
            <a:r>
              <a:rPr lang="en-US"/>
              <a:t>		int </a:t>
            </a:r>
            <a:r>
              <a:rPr lang="en-US" err="1"/>
              <a:t>return_value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printf</a:t>
            </a:r>
            <a:r>
              <a:rPr lang="en-US"/>
              <a:t>("Forking process\n");</a:t>
            </a:r>
          </a:p>
          <a:p>
            <a:pPr marL="0" indent="0">
              <a:buNone/>
            </a:pPr>
            <a:r>
              <a:rPr lang="en-US"/>
              <a:t>		fork();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printf</a:t>
            </a:r>
            <a:r>
              <a:rPr lang="en-US"/>
              <a:t>(“	The process id is %d</a:t>
            </a:r>
          </a:p>
          <a:p>
            <a:pPr marL="0" indent="0">
              <a:buNone/>
            </a:pPr>
            <a:r>
              <a:rPr lang="en-US"/>
              <a:t>			and return value is %d\n",</a:t>
            </a:r>
          </a:p>
          <a:p>
            <a:pPr marL="0" indent="0">
              <a:buNone/>
            </a:pPr>
            <a:r>
              <a:rPr lang="en-US"/>
              <a:t>			</a:t>
            </a:r>
            <a:r>
              <a:rPr lang="en-US" err="1"/>
              <a:t>getpid</a:t>
            </a:r>
            <a:r>
              <a:rPr lang="en-US"/>
              <a:t>(), </a:t>
            </a:r>
            <a:r>
              <a:rPr lang="en-US" err="1"/>
              <a:t>return_value</a:t>
            </a:r>
            <a:r>
              <a:rPr lang="en-US"/>
              <a:t>);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execl</a:t>
            </a:r>
            <a:r>
              <a:rPr lang="en-US"/>
              <a:t>("/bin/ls/","ls","-l",0);</a:t>
            </a:r>
          </a:p>
          <a:p>
            <a:pPr marL="0" indent="0">
              <a:buNone/>
            </a:pPr>
            <a:r>
              <a:rPr lang="en-US"/>
              <a:t>		</a:t>
            </a:r>
            <a:r>
              <a:rPr lang="en-US" err="1"/>
              <a:t>printf</a:t>
            </a:r>
            <a:r>
              <a:rPr lang="en-US"/>
              <a:t>("This line is not printed\n");	</a:t>
            </a:r>
          </a:p>
          <a:p>
            <a:pPr marL="0" indent="0">
              <a:buNone/>
            </a:pPr>
            <a:r>
              <a:rPr lang="en-US"/>
              <a:t>	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BE7F6-EDB0-4CB1-BC0B-7FF86577B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638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86B34-4727-4C14-99B1-1E0519F15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745F1-64E2-477F-8DCF-823340CF1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 wait (int *</a:t>
            </a:r>
            <a:r>
              <a:rPr lang="en-US" err="1"/>
              <a:t>status_location</a:t>
            </a:r>
            <a:r>
              <a:rPr lang="en-US"/>
              <a:t>) -- will force a parent process to wait for a child process to stop or terminate</a:t>
            </a:r>
          </a:p>
          <a:p>
            <a:r>
              <a:rPr lang="en-US"/>
              <a:t>wait() return the </a:t>
            </a:r>
            <a:r>
              <a:rPr lang="en-US" err="1"/>
              <a:t>pid</a:t>
            </a:r>
            <a:r>
              <a:rPr lang="en-US"/>
              <a:t> of the child or -1 for an error</a:t>
            </a:r>
          </a:p>
          <a:p>
            <a:r>
              <a:rPr lang="en-US"/>
              <a:t>void exit(int status) -- terminates the process which calls this function and returns the exit status value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4AE61-F1A5-4525-A845-6206058A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0458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7C4B3-6E40-4003-BEC5-747EF9185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590800"/>
            <a:ext cx="8534400" cy="35861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960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8AD2C-7670-4E2B-B866-0D3405AF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8072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10AA-00E0-4779-8780-899B07663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1 (Max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9C7D9-C9BD-4BDC-89DF-053ACBEBA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POP3 </a:t>
            </a:r>
            <a:r>
              <a:rPr lang="en-US" err="1"/>
              <a:t>eMail</a:t>
            </a:r>
            <a:r>
              <a:rPr lang="en-US"/>
              <a:t> client</a:t>
            </a:r>
          </a:p>
          <a:p>
            <a:pPr lvl="1"/>
            <a:r>
              <a:rPr lang="en-US"/>
              <a:t>Connect to a POP3 mail server (local or global)</a:t>
            </a:r>
          </a:p>
          <a:p>
            <a:pPr lvl="1"/>
            <a:r>
              <a:rPr lang="en-US"/>
              <a:t>Login </a:t>
            </a:r>
          </a:p>
          <a:p>
            <a:pPr lvl="1"/>
            <a:r>
              <a:rPr lang="en-US"/>
              <a:t>Get email list and status</a:t>
            </a:r>
          </a:p>
          <a:p>
            <a:pPr lvl="1"/>
            <a:r>
              <a:rPr lang="en-US"/>
              <a:t>Get email’s content (include attachment)</a:t>
            </a:r>
          </a:p>
          <a:p>
            <a:pPr lvl="1"/>
            <a:r>
              <a:rPr lang="en-US"/>
              <a:t>Send email to a user with attachment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EE0AF-C529-49A5-A307-077EAA94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917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7A5A-B8AD-45ED-8565-89D9A909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2 (Max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49FDE-06D2-4D57-BDAD-29A28D856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SMTP </a:t>
            </a:r>
            <a:r>
              <a:rPr lang="en-US" err="1"/>
              <a:t>eMail</a:t>
            </a:r>
            <a:r>
              <a:rPr lang="en-US"/>
              <a:t> client</a:t>
            </a:r>
          </a:p>
          <a:p>
            <a:pPr lvl="1"/>
            <a:r>
              <a:rPr lang="en-US"/>
              <a:t>Connect to a SMTP mail server (local or global)</a:t>
            </a:r>
          </a:p>
          <a:p>
            <a:pPr lvl="1"/>
            <a:r>
              <a:rPr lang="en-US"/>
              <a:t>Login </a:t>
            </a:r>
          </a:p>
          <a:p>
            <a:pPr lvl="1"/>
            <a:r>
              <a:rPr lang="en-US"/>
              <a:t>Get email list and status</a:t>
            </a:r>
          </a:p>
          <a:p>
            <a:pPr lvl="1"/>
            <a:r>
              <a:rPr lang="en-US"/>
              <a:t>Get email’s content (include attachment)</a:t>
            </a:r>
          </a:p>
          <a:p>
            <a:pPr lvl="1"/>
            <a:r>
              <a:rPr lang="en-US"/>
              <a:t>Send email to a user with attachment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A71C4-AD1F-4CFC-A4C1-FD3C3520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2882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7B904-F945-404E-8301-D7E797EAE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3 (Max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80620-9ECB-40CD-B3F1-52F15390A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FTP Client (</a:t>
            </a:r>
            <a:r>
              <a:rPr lang="en-US" b="1"/>
              <a:t>Standard Protocol</a:t>
            </a:r>
            <a:r>
              <a:rPr lang="en-US"/>
              <a:t>) </a:t>
            </a:r>
          </a:p>
          <a:p>
            <a:pPr lvl="1"/>
            <a:r>
              <a:rPr lang="en-US"/>
              <a:t>Connect to a FTP Server</a:t>
            </a:r>
          </a:p>
          <a:p>
            <a:pPr lvl="1"/>
            <a:r>
              <a:rPr lang="en-US"/>
              <a:t>Login</a:t>
            </a:r>
          </a:p>
          <a:p>
            <a:pPr lvl="1"/>
            <a:r>
              <a:rPr lang="en-US"/>
              <a:t>Get file list</a:t>
            </a:r>
          </a:p>
          <a:p>
            <a:pPr lvl="1"/>
            <a:r>
              <a:rPr lang="en-US"/>
              <a:t>Change directory</a:t>
            </a:r>
          </a:p>
          <a:p>
            <a:pPr lvl="1"/>
            <a:r>
              <a:rPr lang="en-US"/>
              <a:t>Download and upload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1F15A-4EBE-43CE-A55A-CE42E35ED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35388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B68B-A725-4EBC-9829-C40D4DB7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4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9CA17-AE5A-4F23-B0D4-351760467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Chat room server</a:t>
            </a:r>
          </a:p>
          <a:p>
            <a:pPr lvl="1"/>
            <a:r>
              <a:rPr lang="en-US"/>
              <a:t>Server</a:t>
            </a:r>
          </a:p>
          <a:p>
            <a:pPr lvl="2"/>
            <a:r>
              <a:rPr lang="en-US"/>
              <a:t>Maintains a list of client accounts</a:t>
            </a:r>
          </a:p>
          <a:p>
            <a:pPr lvl="2"/>
            <a:r>
              <a:rPr lang="en-US"/>
              <a:t>Maintains a list of rooms</a:t>
            </a:r>
          </a:p>
          <a:p>
            <a:pPr lvl="2"/>
            <a:r>
              <a:rPr lang="en-US"/>
              <a:t>Forward messages from a client to others in the same room</a:t>
            </a:r>
          </a:p>
          <a:p>
            <a:pPr lvl="1"/>
            <a:r>
              <a:rPr lang="en-US"/>
              <a:t>Client</a:t>
            </a:r>
          </a:p>
          <a:p>
            <a:pPr lvl="2"/>
            <a:r>
              <a:rPr lang="en-US"/>
              <a:t>Login to the server</a:t>
            </a:r>
          </a:p>
          <a:p>
            <a:pPr lvl="2"/>
            <a:r>
              <a:rPr lang="en-US"/>
              <a:t>Get the list of rooms and join one room</a:t>
            </a:r>
          </a:p>
          <a:p>
            <a:pPr lvl="2"/>
            <a:r>
              <a:rPr lang="en-US"/>
              <a:t>Send message to chat with others in the same room</a:t>
            </a:r>
          </a:p>
          <a:p>
            <a:pPr lvl="2"/>
            <a:r>
              <a:rPr lang="en-US"/>
              <a:t>Leave the room</a:t>
            </a:r>
          </a:p>
          <a:p>
            <a:pPr lvl="1"/>
            <a:r>
              <a:rPr lang="en-US"/>
              <a:t>Define your own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1F956-BED5-4CBA-9975-112D8E4C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3567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73AA-6E8A-4CFF-A6AA-E72613D39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5 (Max 10)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7D2A-0F7E-48F1-86F3-74A15DE0B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P2P File Share</a:t>
            </a:r>
          </a:p>
          <a:p>
            <a:pPr lvl="1"/>
            <a:r>
              <a:rPr lang="en-US"/>
              <a:t>Define your own P2P file sharing protocol</a:t>
            </a:r>
          </a:p>
          <a:p>
            <a:pPr lvl="2"/>
            <a:r>
              <a:rPr lang="en-US"/>
              <a:t>A tracking server to maintain information about files to be shared and locations of those files</a:t>
            </a:r>
          </a:p>
          <a:p>
            <a:pPr lvl="2"/>
            <a:r>
              <a:rPr lang="en-US"/>
              <a:t>Tracking server return the file’s information to a client</a:t>
            </a:r>
          </a:p>
          <a:p>
            <a:pPr lvl="2"/>
            <a:r>
              <a:rPr lang="en-US"/>
              <a:t>Clients work together to get the requested file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01DB3-BE50-419D-8262-90E9DFA7A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45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8712-402C-4180-A055-6B6D7941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 6 – IRC Chat Client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9DD0-EFDB-443A-B573-77DA7842B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Connect to a local IRC chat server</a:t>
            </a:r>
          </a:p>
          <a:p>
            <a:r>
              <a:rPr lang="en-US"/>
              <a:t>Send joining request</a:t>
            </a:r>
          </a:p>
          <a:p>
            <a:r>
              <a:rPr lang="en-US"/>
              <a:t>Send and receive messages from a channels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3F004-A0D0-449F-BAF9-A1453250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6307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89A6-969B-4553-B654-1C7AFA5D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7a (Text-Based)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B1E4-914C-4467-B5A3-5528D458E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Caro chess server</a:t>
            </a:r>
          </a:p>
          <a:p>
            <a:pPr lvl="1"/>
            <a:r>
              <a:rPr lang="en-US"/>
              <a:t>Maintain a list of player accounts</a:t>
            </a:r>
          </a:p>
          <a:p>
            <a:pPr lvl="1"/>
            <a:r>
              <a:rPr lang="en-US"/>
              <a:t>Maintain a list of playing boards</a:t>
            </a:r>
          </a:p>
          <a:p>
            <a:pPr lvl="1"/>
            <a:r>
              <a:rPr lang="en-US"/>
              <a:t>Update a board when receiving input from a player</a:t>
            </a:r>
          </a:p>
          <a:p>
            <a:pPr lvl="1"/>
            <a:r>
              <a:rPr lang="en-US"/>
              <a:t>Check if a game is finished and send winning announcement to the players and finish the game</a:t>
            </a:r>
          </a:p>
          <a:p>
            <a:r>
              <a:rPr lang="en-US"/>
              <a:t>Caro chess client</a:t>
            </a:r>
          </a:p>
          <a:p>
            <a:pPr lvl="1"/>
            <a:r>
              <a:rPr lang="en-US"/>
              <a:t>Login to the server</a:t>
            </a:r>
          </a:p>
          <a:p>
            <a:pPr lvl="1"/>
            <a:r>
              <a:rPr lang="en-US"/>
              <a:t>Match with a free player (who is not playing any game)</a:t>
            </a:r>
          </a:p>
          <a:p>
            <a:pPr lvl="1"/>
            <a:r>
              <a:rPr lang="en-US"/>
              <a:t>Start the game until it is finished by the server or the player can quit the game</a:t>
            </a:r>
          </a:p>
          <a:p>
            <a:r>
              <a:rPr lang="en-US"/>
              <a:t>Define your own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6CDF4-DF44-4610-8B3A-62F84B60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5988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89A6-969B-4553-B654-1C7AFA5D9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 7b (Binary-Based)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7B1E4-914C-4467-B5A3-5528D458E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Caro chess server</a:t>
            </a:r>
          </a:p>
          <a:p>
            <a:pPr lvl="1"/>
            <a:r>
              <a:rPr lang="en-US"/>
              <a:t>Maintain a list of player accounts</a:t>
            </a:r>
          </a:p>
          <a:p>
            <a:pPr lvl="1"/>
            <a:r>
              <a:rPr lang="en-US"/>
              <a:t>Maintain a list of playing boards</a:t>
            </a:r>
          </a:p>
          <a:p>
            <a:pPr lvl="1"/>
            <a:r>
              <a:rPr lang="en-US"/>
              <a:t>Update a board when receiving input from a player</a:t>
            </a:r>
          </a:p>
          <a:p>
            <a:pPr lvl="1"/>
            <a:r>
              <a:rPr lang="en-US"/>
              <a:t>Check if a game is finished and send winning announcement to the players and finish the game</a:t>
            </a:r>
          </a:p>
          <a:p>
            <a:r>
              <a:rPr lang="en-US"/>
              <a:t>Caro chess client</a:t>
            </a:r>
          </a:p>
          <a:p>
            <a:pPr lvl="1"/>
            <a:r>
              <a:rPr lang="en-US"/>
              <a:t>Login to the server</a:t>
            </a:r>
          </a:p>
          <a:p>
            <a:pPr lvl="1"/>
            <a:r>
              <a:rPr lang="en-US"/>
              <a:t>Match with a free player (who is not playing any game)</a:t>
            </a:r>
          </a:p>
          <a:p>
            <a:pPr lvl="1"/>
            <a:r>
              <a:rPr lang="en-US"/>
              <a:t>Start the game until it is finished by the server or the player can quit the game</a:t>
            </a:r>
          </a:p>
          <a:p>
            <a:r>
              <a:rPr lang="en-US"/>
              <a:t>Define your own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6CDF4-DF44-4610-8B3A-62F84B60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8437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834F-1D6F-4F99-9E19-5D6EAEEE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8a (Text-Based)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ABE2-D43E-4D04-87EE-770C7A782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Chess server</a:t>
            </a:r>
          </a:p>
          <a:p>
            <a:pPr lvl="1"/>
            <a:r>
              <a:rPr lang="en-US"/>
              <a:t>Maintain a list of player accounts</a:t>
            </a:r>
          </a:p>
          <a:p>
            <a:pPr lvl="1"/>
            <a:r>
              <a:rPr lang="en-US"/>
              <a:t>Maintain a list of playing boards</a:t>
            </a:r>
          </a:p>
          <a:p>
            <a:pPr lvl="1"/>
            <a:r>
              <a:rPr lang="en-US"/>
              <a:t>Update a board when receiving input from a player</a:t>
            </a:r>
          </a:p>
          <a:p>
            <a:pPr lvl="1"/>
            <a:r>
              <a:rPr lang="en-US"/>
              <a:t>Check if a game is finished and send winning announcement to the players and finish the game</a:t>
            </a:r>
          </a:p>
          <a:p>
            <a:r>
              <a:rPr lang="en-US"/>
              <a:t>Chess client</a:t>
            </a:r>
          </a:p>
          <a:p>
            <a:pPr lvl="1"/>
            <a:r>
              <a:rPr lang="en-US"/>
              <a:t>Login to the server</a:t>
            </a:r>
          </a:p>
          <a:p>
            <a:pPr lvl="1"/>
            <a:r>
              <a:rPr lang="en-US"/>
              <a:t>Match with a free player (who is not playing any game)</a:t>
            </a:r>
          </a:p>
          <a:p>
            <a:pPr lvl="1"/>
            <a:r>
              <a:rPr lang="en-US"/>
              <a:t>Start the game until it is finished by the server or the player can quit the game</a:t>
            </a:r>
          </a:p>
          <a:p>
            <a:r>
              <a:rPr lang="en-US"/>
              <a:t>Define your own protocol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F8B63-4185-4884-B5C2-28EAC0A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5897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B834F-1D6F-4F99-9E19-5D6EAEEE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Project 8b (Binary-Based)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2ABE2-D43E-4D04-87EE-770C7A782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Chess server</a:t>
            </a:r>
          </a:p>
          <a:p>
            <a:pPr lvl="1"/>
            <a:r>
              <a:rPr lang="en-US"/>
              <a:t>Maintain a list of player accounts</a:t>
            </a:r>
          </a:p>
          <a:p>
            <a:pPr lvl="1"/>
            <a:r>
              <a:rPr lang="en-US"/>
              <a:t>Maintain a list of playing boards</a:t>
            </a:r>
          </a:p>
          <a:p>
            <a:pPr lvl="1"/>
            <a:r>
              <a:rPr lang="en-US"/>
              <a:t>Update a board when receiving input from a player</a:t>
            </a:r>
          </a:p>
          <a:p>
            <a:pPr lvl="1"/>
            <a:r>
              <a:rPr lang="en-US"/>
              <a:t>Check if a game is finished and send winning announcement to the players and finish the game</a:t>
            </a:r>
          </a:p>
          <a:p>
            <a:r>
              <a:rPr lang="en-US"/>
              <a:t>Chess client</a:t>
            </a:r>
          </a:p>
          <a:p>
            <a:pPr lvl="1"/>
            <a:r>
              <a:rPr lang="en-US"/>
              <a:t>Login to the server</a:t>
            </a:r>
          </a:p>
          <a:p>
            <a:pPr lvl="1"/>
            <a:r>
              <a:rPr lang="en-US"/>
              <a:t>Match with a free player (who is not playing any game)</a:t>
            </a:r>
          </a:p>
          <a:p>
            <a:pPr lvl="1"/>
            <a:r>
              <a:rPr lang="en-US"/>
              <a:t>Start the game until it is finished by the server or the player can quit the game</a:t>
            </a:r>
          </a:p>
          <a:p>
            <a:r>
              <a:rPr lang="en-US"/>
              <a:t>Define your own protocol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F8B63-4185-4884-B5C2-28EAC0AA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748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613C-AF34-45E2-ABB1-228428F2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9a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96CFA-2DE3-4778-B557-79FE84D2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Define your own text-based FTP protocol and implement</a:t>
            </a:r>
          </a:p>
          <a:p>
            <a:pPr lvl="1"/>
            <a:r>
              <a:rPr lang="en-US"/>
              <a:t>FTP client</a:t>
            </a:r>
          </a:p>
          <a:p>
            <a:pPr lvl="1"/>
            <a:r>
              <a:rPr lang="en-US"/>
              <a:t>FTP server</a:t>
            </a:r>
          </a:p>
          <a:p>
            <a:r>
              <a:rPr lang="en-US"/>
              <a:t>Your FTP client and server should be able to</a:t>
            </a:r>
          </a:p>
          <a:p>
            <a:pPr lvl="1"/>
            <a:r>
              <a:rPr lang="en-US"/>
              <a:t>Handle user account and home folder</a:t>
            </a:r>
          </a:p>
          <a:p>
            <a:pPr lvl="1"/>
            <a:r>
              <a:rPr lang="en-US"/>
              <a:t>Handle user login</a:t>
            </a:r>
          </a:p>
          <a:p>
            <a:pPr lvl="1"/>
            <a:r>
              <a:rPr lang="en-US"/>
              <a:t>Handle multiple clients</a:t>
            </a:r>
          </a:p>
          <a:p>
            <a:pPr lvl="1"/>
            <a:r>
              <a:rPr lang="en-US"/>
              <a:t>Handle file downloading and uploading like the well-known FTP protocol</a:t>
            </a:r>
          </a:p>
          <a:p>
            <a:r>
              <a:rPr lang="en-US"/>
              <a:t>Your protocol can be simpler than the well-known FTP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5276C-2B6E-48AB-82E7-3CBD5D21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7541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11D68-36D4-435A-A1B1-8C516EFB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9b (Max 8.5)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1BC93-6D0C-4685-8CC5-A2EA1B23A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Same as 9a but the protocol is binary-based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1F54D-BD1D-4935-B98B-ED0E9830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3BCE07-93B6-431C-B811-61266185107F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611113"/>
      </p:ext>
    </p:extLst>
  </p:cSld>
  <p:clrMapOvr>
    <a:masterClrMapping/>
  </p:clrMapOvr>
</p:sld>
</file>

<file path=ppt/theme/theme1.xml><?xml version="1.0" encoding="utf-8"?>
<a:theme xmlns:a="http://schemas.openxmlformats.org/drawingml/2006/main" name="SoICT-PPT-template(official) - Eng^0Vie (4x3)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C474888188D540AFA86CE9C65317C9" ma:contentTypeVersion="3" ma:contentTypeDescription="Create a new document." ma:contentTypeScope="" ma:versionID="bbd67c309dfc566ef3b0cea98900db94">
  <xsd:schema xmlns:xsd="http://www.w3.org/2001/XMLSchema" xmlns:xs="http://www.w3.org/2001/XMLSchema" xmlns:p="http://schemas.microsoft.com/office/2006/metadata/properties" xmlns:ns2="37173c3c-a499-43c7-83aa-86df2c681fb8" targetNamespace="http://schemas.microsoft.com/office/2006/metadata/properties" ma:root="true" ma:fieldsID="3cc18fa708c72388438cb9056eb04a0f" ns2:_="">
    <xsd:import namespace="37173c3c-a499-43c7-83aa-86df2c681f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173c3c-a499-43c7-83aa-86df2c681f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31E4905-90CF-4850-8609-EEFDD296E4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016BA9-94A0-4B77-80CB-B45BC177FC97}">
  <ds:schemaRefs>
    <ds:schemaRef ds:uri="37173c3c-a499-43c7-83aa-86df2c681f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A4781B9-FE94-47BC-B287-4755BE58DA0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SoICT-PPT-template(official) - Eng&amp;Vie (4x3)</Template>
  <Application>Microsoft Office PowerPoint</Application>
  <PresentationFormat>On-screen Show (4:3)</PresentationFormat>
  <Slides>45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7" baseType="lpstr">
      <vt:lpstr>SoICT-PPT-template(official) - Eng^0Vie (4x3)</vt:lpstr>
      <vt:lpstr>1_Office Theme</vt:lpstr>
      <vt:lpstr>UNIX C++ Programming Review</vt:lpstr>
      <vt:lpstr>References</vt:lpstr>
      <vt:lpstr>Content</vt:lpstr>
      <vt:lpstr>Creating, Compiling and Running</vt:lpstr>
      <vt:lpstr>Creating, Compiling and Running</vt:lpstr>
      <vt:lpstr>Creating, Compiling and Running</vt:lpstr>
      <vt:lpstr>C/C++ Basics</vt:lpstr>
      <vt:lpstr>C/C++ Advances</vt:lpstr>
      <vt:lpstr>C/C++ Advances</vt:lpstr>
      <vt:lpstr>Excercise</vt:lpstr>
      <vt:lpstr>C/C++ Advances</vt:lpstr>
      <vt:lpstr>C/C++ Advances</vt:lpstr>
      <vt:lpstr>Excercise</vt:lpstr>
      <vt:lpstr>C/C++ Advances</vt:lpstr>
      <vt:lpstr>C/C++ Advances</vt:lpstr>
      <vt:lpstr>Input and Output</vt:lpstr>
      <vt:lpstr>Input and Output</vt:lpstr>
      <vt:lpstr>Input and Output</vt:lpstr>
      <vt:lpstr>Input and Output</vt:lpstr>
      <vt:lpstr>Input and Output</vt:lpstr>
      <vt:lpstr>Input and Output</vt:lpstr>
      <vt:lpstr>String Handling</vt:lpstr>
      <vt:lpstr>String Handling</vt:lpstr>
      <vt:lpstr>Memory Operations</vt:lpstr>
      <vt:lpstr>File Access &amp; Directory System Calls</vt:lpstr>
      <vt:lpstr>File Access &amp; Directory System Calls</vt:lpstr>
      <vt:lpstr>File Access &amp; Directory System Calls</vt:lpstr>
      <vt:lpstr>Process Control</vt:lpstr>
      <vt:lpstr>Exercise 1</vt:lpstr>
      <vt:lpstr>Process Control</vt:lpstr>
      <vt:lpstr>Process Control</vt:lpstr>
      <vt:lpstr>Process Control</vt:lpstr>
      <vt:lpstr>PowerPoint Presentation</vt:lpstr>
      <vt:lpstr>Project 1 (Max 10)</vt:lpstr>
      <vt:lpstr>Project 2 (Max 10)</vt:lpstr>
      <vt:lpstr>Project 3 (Max 9)</vt:lpstr>
      <vt:lpstr>Project 4 (Max 8.5)</vt:lpstr>
      <vt:lpstr>Project 5 (Max 10)</vt:lpstr>
      <vt:lpstr>Project 6 – IRC Chat Client (Max 8.5)</vt:lpstr>
      <vt:lpstr>Project 7a (Text-Based) (Max 8.5)</vt:lpstr>
      <vt:lpstr>Project 7b (Binary-Based) (Max 8.5)</vt:lpstr>
      <vt:lpstr>Project 8a (Text-Based) (Max 8.5)</vt:lpstr>
      <vt:lpstr>Project 8b (Binary-Based) (Max 8.5)</vt:lpstr>
      <vt:lpstr>Project 9a (Max 8.5)</vt:lpstr>
      <vt:lpstr>Project 9b (Max 8.5)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Dang Hai</dc:creator>
  <cp:revision>1</cp:revision>
  <dcterms:created xsi:type="dcterms:W3CDTF">2011-09-29T02:04:50Z</dcterms:created>
  <dcterms:modified xsi:type="dcterms:W3CDTF">2026-09-14T04:31:24Z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0x010100A1C474888188D540AFA86CE9C65317C9</vt:lpwstr>
  </property>
</Properties>
</file>